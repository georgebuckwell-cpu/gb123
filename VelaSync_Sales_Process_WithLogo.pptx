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132320" cy="6858000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548640"/>
            <a:ext cx="36576" cy="100584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281160" y="2011680"/>
            <a:ext cx="36576" cy="45720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0" y="3474720"/>
            <a:ext cx="36576" cy="8229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21240" y="5120640"/>
            <a:ext cx="36576" cy="64008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0" y="914400"/>
            <a:ext cx="320040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2377440"/>
            <a:ext cx="320040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3840480"/>
            <a:ext cx="320040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5303520"/>
            <a:ext cx="320040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48640"/>
            <a:ext cx="640080" cy="64008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48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66751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38328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435608"/>
            <a:ext cx="3246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INTERNAL OPERATIONS ·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1810512"/>
            <a:ext cx="6400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EEF7F7"/>
                </a:solidFill>
              </a:rPr>
              <a:t>The Complete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450592"/>
            <a:ext cx="6400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3AAEAE"/>
                </a:solidFill>
              </a:rPr>
              <a:t>Sales Process.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7472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9ABFBF"/>
                </a:solidFill>
              </a:rPr>
              <a:t>8 stages · zero ambiguity · one system to close every room.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977639"/>
            <a:ext cx="5303520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133087"/>
            <a:ext cx="1463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Stages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133087"/>
            <a:ext cx="1463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£450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Entry package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133087"/>
            <a:ext cx="1463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24h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To go 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4133087"/>
            <a:ext cx="1463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77%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SMEs no web strategy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301752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2B8E8E"/>
                </a:solidFill>
              </a:rPr>
              <a:t>01 → 02 → 03 → 04 → 05 → 06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3456432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112" y="3511296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EF7F7"/>
                </a:solidFill>
              </a:rPr>
              <a:t>01  Onboarding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89520" y="3886200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54112" y="3941063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02  Pre-Meeting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89520" y="4315968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54112" y="4370831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03  Discovery Call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89520" y="4745736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54112" y="4800599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04  Reveal &amp; Pitch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89520" y="5175504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54112" y="5230368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05  Objection &amp; Close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89520" y="5605271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54112" y="5660135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06  Post-Close &amp; Payment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FULL PIPELINE ·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The 8-Stage Sales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1280160" cy="16916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Advisor
Onboarding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FOUNDATION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00784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4276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69948" y="1627632"/>
            <a:ext cx="1280160" cy="16916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69948" y="1627632"/>
            <a:ext cx="1280160" cy="36576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69948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9948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69948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Weekly
Cadence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69948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RHYTHM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59251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12744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28416" y="1627632"/>
            <a:ext cx="1280160" cy="16916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28416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28416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28416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28416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Pre-Meeting
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28416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PREP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17720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71212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86884" y="1627632"/>
            <a:ext cx="1280160" cy="16916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86884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86884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86884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86884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Discovery
Call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86884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QUALIFY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76188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9680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45352" y="1627632"/>
            <a:ext cx="1280160" cy="16916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45352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45352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👁️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2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Reveal
&amp; Pitch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PRESENT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34656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88148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03819" y="1627632"/>
            <a:ext cx="1280160" cy="16916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03819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03819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03819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03819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Objection
&amp; Close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03819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CONVERT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93124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46616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62288" y="1627632"/>
            <a:ext cx="1280160" cy="16916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62288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62288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62288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62288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Pricing
Structure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62288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SELL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51592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05084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620755" y="1627632"/>
            <a:ext cx="1280160" cy="16916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620755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620755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20755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20755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Post-Close
&amp;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20755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COMPLETE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6339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500+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6339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Calls / week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73577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5+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73577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Closes / week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20815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24h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20815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From close to live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68053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£450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68053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Entry · no contract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82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85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87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01 ·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Advisor Onboarding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Know the product. Know the tools. Know the numbers — before you speak to anyone.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3749039" cy="137160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6420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76479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EF7F7"/>
                </a:solidFill>
              </a:rPr>
              <a:t>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92224"/>
            <a:ext cx="2788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Product Mastery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21284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Every package &amp; price cold
£450 / £650 setup  ·  £50 / £100 /mo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1664208"/>
            <a:ext cx="3749039" cy="137160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166420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76479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EF7F7"/>
                </a:solidFill>
              </a:rPr>
              <a:t>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792224"/>
            <a:ext cx="2788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Tools &amp; Assets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21284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Lead list · Demo site · Scripts
Objection guides · CRM access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9015" y="1664208"/>
            <a:ext cx="3749039" cy="137160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9015" y="166420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7" y="176479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EF7F7"/>
                </a:solidFill>
              </a:rPr>
              <a:t>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5" y="1792224"/>
            <a:ext cx="2788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Targets &amp; KPIs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7" y="221284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500 outbound calls / week
5 closed sales / week minimum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182112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THE SIX RULES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429000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3429000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3538728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You are the expert. Act like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" y="3886200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Confidence is not optional.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70248" y="3429000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70248" y="3429000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98264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538728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Silence is a weapon.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886200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After every powerful question — stop talking.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9016" y="3429000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9016" y="3429000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57032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50808" y="3538728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Diagnose before you prescribe.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50808" y="3886200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Ask before you pitch. Always.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4590288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1480" y="459028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9496" y="47548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272" y="4700016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Speak in outcomes, not features.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272" y="5047488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They care about customers, not animations.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70248" y="4590288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70248" y="459028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98264" y="47548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4700016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Frame everything as ROI.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5047488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Every price is an investment.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9016" y="4590288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29016" y="459028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57032" y="47548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0808" y="4700016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Show, don't tell.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50808" y="5047488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Open the draft site silently. Let them sell themselves.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58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61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63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TEAM CADENCE · WEEKLY RHYTHM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Schedule &amp; KPIs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Consistent rhythm drives consistent performance.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45920"/>
            <a:ext cx="1444752" cy="2999232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45920"/>
            <a:ext cx="144475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325" y="1737360"/>
            <a:ext cx="129906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AAEAE"/>
                </a:solidFill>
              </a:rPr>
              <a:t>MON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325" y="2084831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5029" y="2176272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11:00 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029" y="2432303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Diary Alignment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325" y="3255263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5029" y="3346703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5029" y="3602735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KPI Review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61388" y="1645920"/>
            <a:ext cx="1444752" cy="2999232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1388" y="1645920"/>
            <a:ext cx="1444752" cy="3657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34233" y="1737360"/>
            <a:ext cx="129906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A8080"/>
                </a:solidFill>
              </a:rPr>
              <a:t>TUE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34233" y="2084831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4937" y="2176272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94937" y="2432303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11296" y="1645920"/>
            <a:ext cx="1444752" cy="2999232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11296" y="1645920"/>
            <a:ext cx="1444752" cy="3657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4141" y="1737360"/>
            <a:ext cx="129906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A8080"/>
                </a:solidFill>
              </a:rPr>
              <a:t>WED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84141" y="2084831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4845" y="2176272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4845" y="2432303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61204" y="1645920"/>
            <a:ext cx="1444752" cy="2999232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61204" y="1645920"/>
            <a:ext cx="1444752" cy="36576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4048" y="1737360"/>
            <a:ext cx="129906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AAEAE"/>
                </a:solidFill>
              </a:rPr>
              <a:t>THU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34048" y="2084831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4753" y="2176272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94753" y="2432303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Fwd Planning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34048" y="3255263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94753" y="3346703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94753" y="3602735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11111" y="1645920"/>
            <a:ext cx="1444752" cy="2999232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611111" y="1645920"/>
            <a:ext cx="1444752" cy="3657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83956" y="1737360"/>
            <a:ext cx="129906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A8080"/>
                </a:solidFill>
              </a:rPr>
              <a:t>FRI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83956" y="2084831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44661" y="2176272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4661" y="2432303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16002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KEY KPIs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75319" y="1901952"/>
            <a:ext cx="173736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75319" y="1901952"/>
            <a:ext cx="17373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57270" y="2020824"/>
            <a:ext cx="2622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📞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5075" y="1993392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Outbound Calls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5075" y="2286000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500+ / week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131551" y="1901952"/>
            <a:ext cx="173736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131551" y="1901952"/>
            <a:ext cx="17373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213502" y="2020824"/>
            <a:ext cx="2622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41306" y="1993392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Conversion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41306" y="2286000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5+ closes / week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75319" y="2743200"/>
            <a:ext cx="173736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75319" y="2743200"/>
            <a:ext cx="17373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57270" y="2862072"/>
            <a:ext cx="2622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5075" y="2834640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Revenue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5075" y="3127248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Weekly &amp; monthly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31551" y="2743200"/>
            <a:ext cx="173736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131551" y="2743200"/>
            <a:ext cx="17373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13502" y="2862072"/>
            <a:ext cx="2622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41306" y="2834640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Follow-Up Rate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41306" y="3127248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100% warm leads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75319" y="3584448"/>
            <a:ext cx="173736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75319" y="3584448"/>
            <a:ext cx="17373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57270" y="3703320"/>
            <a:ext cx="2622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🏷️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85075" y="3675887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Avg Deal Value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5075" y="3968496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£450–£650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131551" y="3584448"/>
            <a:ext cx="173736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131551" y="3584448"/>
            <a:ext cx="17373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3502" y="3703320"/>
            <a:ext cx="2622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🔁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41306" y="3675887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Retention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41306" y="3968496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Maximise monthly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0" y="4773168"/>
            <a:ext cx="12188952" cy="7315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489204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RECURRING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743200" y="48463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00400" y="48646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AEAE"/>
                </a:solidFill>
              </a:rPr>
              <a:t>24/7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00400" y="51663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MD Direct Line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760720" y="48463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🎯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17920" y="48646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AEAE"/>
                </a:solidFill>
              </a:rPr>
              <a:t>2W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17920" y="51663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Bi-Weekly 1:1s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78240" y="48463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📋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235440" y="48646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AEAE"/>
                </a:solidFill>
              </a:rPr>
              <a:t>1Y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235440" y="51663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Personal Dev Plan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6339" y="6089904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9 – 11 AM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6339" y="645566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Call Sprint 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473577" y="6089904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11 – 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473577" y="645566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Admin · 1 hr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20815" y="6089904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12 – 2 PM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20815" y="645566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Call Sprint 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68053" y="6089904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4 – 6 PM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68053" y="645566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Call Sprint 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0" y="5870448"/>
            <a:ext cx="121889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AAEAE"/>
                </a:solidFill>
              </a:rPr>
              <a:t>DAILY CALL SPRINTS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100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103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105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02 ·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Pre-Meeting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10 minutes before every meeting. Walk in knowing their problem before they've said a word.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27632"/>
            <a:ext cx="2724912" cy="2377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27632"/>
            <a:ext cx="272491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60904" y="1719072"/>
            <a:ext cx="347472" cy="25603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60904" y="171907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AAEAE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19072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267712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EF7F7"/>
                </a:solidFill>
              </a:rPr>
              <a:t>Google Them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633472"/>
            <a:ext cx="2450592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724912"/>
            <a:ext cx="24505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Search the business. Do they appear at all? What comes up first — them or a competitor?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6120" y="1627632"/>
            <a:ext cx="2724912" cy="2377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46120" y="1627632"/>
            <a:ext cx="272491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95544" y="1719072"/>
            <a:ext cx="347472" cy="25603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95544" y="171907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AAEAE"/>
                </a:solidFill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1719072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267712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EF7F7"/>
                </a:solidFill>
              </a:rPr>
              <a:t>Check Their Site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83280" y="2633472"/>
            <a:ext cx="2450592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2724912"/>
            <a:ext cx="24505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Is it mobile-friendly? Fast? Does it actually convert — or is it a liability?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1627632"/>
            <a:ext cx="2724912" cy="2377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80760" y="1627632"/>
            <a:ext cx="272491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30184" y="1719072"/>
            <a:ext cx="347472" cy="25603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0184" y="171907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AAEAE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719072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2267712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EF7F7"/>
                </a:solidFill>
              </a:rPr>
              <a:t>Google Maps Rating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633472"/>
            <a:ext cx="2450592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2724912"/>
            <a:ext cx="24505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Low score = reputation problem. No reviews = visibility problem. You solve both.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15400" y="1627632"/>
            <a:ext cx="2724912" cy="2377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15400" y="1627632"/>
            <a:ext cx="272491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164824" y="1719072"/>
            <a:ext cx="347472" cy="25603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64824" y="171907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AAEAE"/>
                </a:solidFill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1719072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⚔️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267712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EF7F7"/>
                </a:solidFill>
              </a:rPr>
              <a:t>Competitor Audit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52560" y="2633472"/>
            <a:ext cx="2450592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0" y="2724912"/>
            <a:ext cx="24505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Find their top 3 local competitors. Check their online presence. You'll use this to create urgency.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133087"/>
            <a:ext cx="11365992" cy="1005840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4133087"/>
            <a:ext cx="45720" cy="100584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2062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OPENING LINE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4165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BFBF"/>
                </a:solidFill>
              </a:rPr>
              <a:t>"I had a look at your business before coming in today. I noticed a few things I wanted to talk about — but first, tell me how business has been. Are you getting as many new customers as you want?"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266944"/>
            <a:ext cx="11365992" cy="676656"/>
          </a:xfrm>
          <a:prstGeom prst="rect">
            <a:avLst/>
          </a:prstGeom>
          <a:solidFill>
            <a:srgbClr val="22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1480" y="5266944"/>
            <a:ext cx="45720" cy="67665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541324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87171"/>
                </a:solidFill>
              </a:rPr>
              <a:t>⛔  Never open with the product. Open with their world — not yours. The product comes third.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51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54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56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03 · QUALIFICATION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6 Discovery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Ask in sequence · Listen deeply · Take notes visibly. Their answers give you everything to close.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6420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175564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4650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CURRENT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" y="197510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"When a potential customer Googles you right now — what do they find?"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221284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Forces them to confront their digital reality.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66420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66420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175564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74650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AWARENESS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197510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"How are most of your customers finding you at the moment?"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221284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Exposes over-reliance on referrals. One slow season away from a problem.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48716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248716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" y="257860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56946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COMPETITION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" y="279806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"Have you looked at what your top three competitors are doing online?"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" y="303580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Creates competitive anxiety. You already know the answer — make them say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48716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248716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6" y="257860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56946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REVENUE IMPACT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6" y="279806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"76% research online before contact — what does that mean for customers you're missing?"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7376" y="303580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Forces them to calculate lost revenue in their own head.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31012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" y="331012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496" y="340156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39242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PREVIOUS EXPERIENCE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" y="362102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"Have you ever tried to get a website built before? What happened?"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" y="385876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Most have a war story. You are the antidote before you've mentioned the product.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3310128"/>
            <a:ext cx="5486400" cy="731520"/>
          </a:xfrm>
          <a:prstGeom prst="rect">
            <a:avLst/>
          </a:prstGeom>
          <a:solidFill>
            <a:srgbClr val="122218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60" y="3310128"/>
            <a:ext cx="5486400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37376" y="340156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339242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2C55E"/>
                </a:solidFill>
              </a:rPr>
              <a:t>FUTURE VISION 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37376" y="362102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"If your digital presence was exactly where you wanted it — what would change?"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6" y="385876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Most powerful question. Gets them to paint their own success picture out loud.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79008"/>
            <a:ext cx="11365992" cy="822960"/>
          </a:xfrm>
          <a:prstGeom prst="rect">
            <a:avLst/>
          </a:prstGeom>
          <a:solidFill>
            <a:srgbClr val="18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1480" y="5779008"/>
            <a:ext cx="45720" cy="822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591616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D060"/>
                </a:solidFill>
              </a:rPr>
              <a:t>💡  After all six questions: "So if I've understood you correctly..." — feed their answers back verbatim. Validates concerns, amplifies the pain, sets up the pitch. Never skip this.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51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54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56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04 ·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The Reveal &amp;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Bridge their pain · Show the site silently · Anchor high, land low. The emotional sale is made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3730752" cy="17830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64208"/>
            <a:ext cx="373075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773936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7F7"/>
                </a:solidFill>
              </a:rPr>
              <a:t>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80136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STEP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267712"/>
            <a:ext cx="34015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Bridge the Pain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2633472"/>
            <a:ext cx="34015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Summarise their answers in one clear statement.
Make them feel heard before you reveal anything.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15384" y="1664208"/>
            <a:ext cx="3730752" cy="17830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15384" y="1664208"/>
            <a:ext cx="373075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9976" y="1773936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7F7"/>
                </a:solidFill>
              </a:rPr>
              <a:t>👁️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2624" y="180136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STEP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9976" y="2267712"/>
            <a:ext cx="34015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The Silent Show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9976" y="2633472"/>
            <a:ext cx="34015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Open the draft site. Say nothing. Scroll slowly.
When they lean in — that's your pivot.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19288" y="1664208"/>
            <a:ext cx="3730752" cy="17830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19288" y="1664208"/>
            <a:ext cx="373075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79" y="1773936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7F7"/>
                </a:solidFill>
              </a:rPr>
              <a:t>⚖️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180136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STEP 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2267712"/>
            <a:ext cx="34015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Anchor High, Land 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2633472"/>
            <a:ext cx="34015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Never open with £450. Anchor to £2,000+.
The contrast does the selling for you.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566160"/>
            <a:ext cx="11365992" cy="749808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566160"/>
            <a:ext cx="45720" cy="74980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363931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PRICE REVEAL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840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EF7F7"/>
                </a:solidFill>
              </a:rPr>
              <a:t>"A website of this quality from a traditional agency — you're looking at £2,000 minimum. We charge £450. And you're live within 24 hours. Not a week. Not a month. Tomorrow."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4434840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2C55E"/>
                </a:solidFill>
              </a:rPr>
              <a:t>BUYING SIGNALS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700016"/>
            <a:ext cx="5623560" cy="2011680"/>
          </a:xfrm>
          <a:prstGeom prst="rect">
            <a:avLst/>
          </a:prstGeom>
          <a:solidFill>
            <a:srgbClr val="081E10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4700016"/>
            <a:ext cx="5623560" cy="3657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9145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"That looks really good"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72" y="515721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Leans toward the screen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" y="552297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Asks logistics / timeline questions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72" y="588873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"Can you do it in our colours?"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6072" y="625449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Looks at a colleague for approval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53912" y="4434840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9E0B"/>
                </a:solidFill>
              </a:rPr>
              <a:t>PROCEED WITH CAUTION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53912" y="4700016"/>
            <a:ext cx="5623560" cy="2011680"/>
          </a:xfrm>
          <a:prstGeom prst="rect">
            <a:avLst/>
          </a:prstGeom>
          <a:solidFill>
            <a:srgbClr val="1E1604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53912" y="4700016"/>
            <a:ext cx="562356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18504" y="479145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Arms crossed, leaning back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8504" y="515721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"We need to talk to our accountant"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552297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"We'll think about it"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588873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Checking their phone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8504" y="625449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Repeated glances at the door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50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53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55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05 · CONVERSION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Objection Handling &amp; The Close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Every objection is a question in disguise. Acknowledge · Reframe · Advance.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09344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COMMON OBJECTIONS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88366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88366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88366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93852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already have a website."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1945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Is it ranking? Is it bringing in enquiries — or a digital brochure?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1518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261518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261518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67004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"£450 seems too cheap."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9260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You've just seen it. That IS the quality. Enterprise engineers, zero overhead.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34670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334670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34670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40156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need to think about it."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576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What specifically? Name the real objection. Then stop talking.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7822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407822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407822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13308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want a few quotes first."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3891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Equivalent quality starts at £2,000+. Come back — we'll beat any quote.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80974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480974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480974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864607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had a bad experience before."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1206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"Tell me what happened." Vela Sync was built because of that gap.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54126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554126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554126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59612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"Not sure about the monthly."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8521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£50/mo is insurance on a £450 asset. Easiest decision in the room.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1609344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CLOSE TECHNIQUES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1883664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920" y="1883664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1883664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5080" y="195681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Assumptive Close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223113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Assumes the sale. Moves to logistics.
"What's the domain name you're using?"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2743200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2743200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17920" y="2743200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55080" y="281635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Investment Frame Close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80" y="309067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Forces ROI calculation.
"If it brings one extra customer — what's that worth?"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3602736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17920" y="3602736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17920" y="3602736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55080" y="3675887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Urgency Close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5080" y="395020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Someone is searching for you RIGHT NOW.
"What's stopping us doing this today?" — then silence.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0" y="4462272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17920" y="4462272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17920" y="4462272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5080" y="453542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Option Close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480974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Both options are a yes.
"£450 standard or £650 SEO — which feels right?"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17920" y="5321808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17920" y="5321808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17920" y="5321808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55080" y="53949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Instalment Close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55080" y="566928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Removes the financial barrier.
"Get it live tomorrow, pay on a schedule that suits you."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6254496"/>
            <a:ext cx="12188952" cy="603504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63367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"The question isn't whether — it's when."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37560" y="63367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"This isn't a cost. It's a decision."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63640" y="63367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"Every day you wait, your competitor doesn't."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89720" y="63367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"Based on what you've told me..."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74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77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79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PRICING STRUCTURE · KNOW THESE COLD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What You're Selling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Two packages. Two monthly tiers. The contrast vs the market is your most powerful tool.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5440680" cy="48920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64208"/>
            <a:ext cx="544068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2880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STANDARD PACKAGE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84831"/>
            <a:ext cx="3474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EEF7F7"/>
                </a:solidFill>
              </a:rPr>
              <a:t>£450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3464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AAEAE"/>
                </a:solidFill>
              </a:rPr>
              <a:t>$575  ·  €525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054096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One-off setup  ·  Live within 24 hours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328416"/>
            <a:ext cx="5074920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74720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Professional, mobile-responsive website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749039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Personalised to the client's brand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023359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Domain activation or transfer included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297679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SSL, on-page SEO &amp; performance optimised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572000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Client reviews &amp; approves before launch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846320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Full access credentials on the 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120640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Instalments available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5449824"/>
            <a:ext cx="5074920" cy="82296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52297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THEN MONTHLY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724144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EF7F7"/>
                </a:solidFill>
              </a:rPr>
              <a:t>£50 / $65 / €58 /month — site maintenance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971032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Industry avg: £150+ /mo  ·  Cancel any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16752" y="1664208"/>
            <a:ext cx="5760720" cy="489204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16752" y="1664208"/>
            <a:ext cx="5760720" cy="4572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84080" y="1737360"/>
            <a:ext cx="1737360" cy="25603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175564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BEST VALUE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182880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SEO &amp; GROWTH PACKAGE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99632" y="2084831"/>
            <a:ext cx="3474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3AAEAE"/>
                </a:solidFill>
              </a:rPr>
              <a:t>£650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9632" y="283464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AAEAE"/>
                </a:solidFill>
              </a:rPr>
              <a:t>$825  ·  €760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9632" y="305409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One-off  ·  Everything in Standard, plus growth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9632" y="3328416"/>
            <a:ext cx="5394960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9632" y="347472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Everything in Standard Package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2" y="3723436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Marketing team briefed at launch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9632" y="3972153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Live traffic strategy from day 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9632" y="422087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Growth roadmap tailored to their business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9632" y="4469587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SEO foundations for immediate indexing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9632" y="4718304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ML-backed digital strategy applied day 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99632" y="496702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Save up to £1,550 vs average agency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9632" y="5215737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Instalments available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9632" y="5449824"/>
            <a:ext cx="5394960" cy="822960"/>
          </a:xfrm>
          <a:prstGeom prst="rect">
            <a:avLst/>
          </a:prstGeom>
          <a:solidFill>
            <a:srgbClr val="16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552297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THEN MONTHLY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572414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AAEAE"/>
                </a:solidFill>
              </a:rPr>
              <a:t>£100 / $130 / €117 /month — maintenance + SEO + traffic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5080" y="5971032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Industry avg: £300+ /mo  ·  No contract, cancel any time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51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54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56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06 · COMPLETION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Post-Close, Onboarding &amp; Payment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The close is not the finish line. Protect the sale · trigger delivery · collect payment.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09344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DELIVERY PROCESS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865376"/>
            <a:ext cx="3822191" cy="93268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865376"/>
            <a:ext cx="3822191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865376"/>
            <a:ext cx="420624" cy="9326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" y="2011680"/>
            <a:ext cx="3474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AAEAE"/>
                </a:solidFill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1920240"/>
            <a:ext cx="3182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IMMEDIATELY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2157984"/>
            <a:ext cx="318211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Log sale in CRM · notify build team · 24-hour clock starts NOW.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4256" y="1865376"/>
            <a:ext cx="3822191" cy="93268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1865376"/>
            <a:ext cx="3822191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256" y="1865376"/>
            <a:ext cx="420624" cy="9326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2" y="2011680"/>
            <a:ext cx="3474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AAEAE"/>
                </a:solidFill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1920240"/>
            <a:ext cx="3182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SAME 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157984"/>
            <a:ext cx="318211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30-min brief call with design team — brand, copy, domain, requirements.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57031" y="1865376"/>
            <a:ext cx="3822191" cy="93268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57031" y="1865376"/>
            <a:ext cx="3822191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57031" y="1865376"/>
            <a:ext cx="420624" cy="9326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93607" y="2011680"/>
            <a:ext cx="3474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AAEAE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69096" y="1920240"/>
            <a:ext cx="3182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WITHIN 24H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69096" y="2157984"/>
            <a:ext cx="318211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Build complete · client reviews · revisions · site goes live.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2926080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PAYMENT COLLECTION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20040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320040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3200400"/>
            <a:ext cx="36576" cy="521207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9496" y="325526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" y="323697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AT CLOSE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" y="345643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Issue invoice immediately — package + first monthly fee.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79476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379476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3794760"/>
            <a:ext cx="36576" cy="521207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9496" y="384962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" y="383133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STANDARD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" y="405079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Full payment before or on the day the site goes live.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38912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438912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1480" y="4389120"/>
            <a:ext cx="36576" cy="521207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9496" y="4443983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" y="442569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INSTALMENT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5256" y="464515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First payment at close. Schedule confirmed in writing.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73952" y="320040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73952" y="320040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73952" y="3200400"/>
            <a:ext cx="36576" cy="521207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01968" y="325526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67728" y="323697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DAY 1 LATE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67728" y="345643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Friendly reminder — confirming, not chasing.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73952" y="379476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473952" y="379476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73952" y="3794760"/>
            <a:ext cx="36576" cy="521207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01968" y="384962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67728" y="383133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DAY 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67728" y="405079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Direct call — warm, professional, easy path to yes.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3952" y="438912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73952" y="438912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73952" y="4389120"/>
            <a:ext cx="36576" cy="521207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01968" y="4443983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67728" y="442569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DAY 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67728" y="464515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Formal written notice. 48-hour final deadline.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1480" y="5102352"/>
            <a:ext cx="3822191" cy="1554480"/>
          </a:xfrm>
          <a:prstGeom prst="rect">
            <a:avLst/>
          </a:prstGeom>
          <a:solidFill>
            <a:srgbClr val="081E10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11480" y="5102352"/>
            <a:ext cx="3822191" cy="3657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5193792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</a:rPr>
              <a:t>✅  Always Do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554126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Invoice same day as close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81558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Confirm payment terms in writing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608990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Lock in brief call before you leave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636422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Log every interaction in CRM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43400" y="5102352"/>
            <a:ext cx="3822191" cy="1554480"/>
          </a:xfrm>
          <a:prstGeom prst="rect">
            <a:avLst/>
          </a:prstGeom>
          <a:solidFill>
            <a:srgbClr val="1E0808"/>
          </a:solidFill>
          <a:ln w="9525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343400" y="5102352"/>
            <a:ext cx="3822191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480560" y="5193792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</a:rPr>
              <a:t>⛔  Never Do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80560" y="554126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Hand over site before payment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80560" y="581558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Leave without a defined next step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80560" y="608990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Accept "call me when you're ready"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80560" y="636422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Agree verbal-only instalment terms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19" y="5102352"/>
            <a:ext cx="3822191" cy="1554480"/>
          </a:xfrm>
          <a:prstGeom prst="rect">
            <a:avLst/>
          </a:prstGeom>
          <a:solidFill>
            <a:srgbClr val="1E1604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275319" y="5102352"/>
            <a:ext cx="3822191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0" y="5193792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⚠️  If No Close Today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0" y="554126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Lock in a specific date &amp; time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12480" y="581558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Send draft site link that evening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12480" y="608990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Send calendar invite from the car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0" y="636422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Vague next steps die — specific ones live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89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92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94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78240" y="457200"/>
            <a:ext cx="32004" cy="91440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25712" y="713232"/>
            <a:ext cx="32004" cy="107899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73184" y="969264"/>
            <a:ext cx="32004" cy="1243584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20656" y="1225296"/>
            <a:ext cx="32004" cy="1408176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168128" y="1481328"/>
            <a:ext cx="32004" cy="1572768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0" y="1737360"/>
            <a:ext cx="32004" cy="17373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863072" y="1993392"/>
            <a:ext cx="32004" cy="190195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10544" y="2249424"/>
            <a:ext cx="32004" cy="2066543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13716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2860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32004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41148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50292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48640"/>
            <a:ext cx="658368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48640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66751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1920240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AAEAE"/>
                </a:solidFill>
              </a:rPr>
              <a:t>The Standard: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2468880"/>
            <a:ext cx="8686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EF7F7"/>
                </a:solidFill>
              </a:rPr>
              <a:t>Signed. Invoiced. Brief call booked.
Site live in 24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8404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ABFBF"/>
                </a:solidFill>
              </a:rPr>
              <a:t>That is what you're selling. That is exactly what you deliver.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389120"/>
            <a:ext cx="7498079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572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074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Stages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4572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500+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5074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Calls/wk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4572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5+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5074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Closes/wk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4572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24h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5074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To live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44652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© 2026 Vela Sync Ltd · Co. No. 17051204 · Internal Sales Playbook — Confidential — Not for Distribution</a:t>
            </a:r>
          </a:p>
        </p:txBody>
      </p:sp>
      <p:sp>
        <p:nvSpPr>
          <p:cNvPr id="34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37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39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" y="0"/>
            <a:ext cx="12143232" cy="896112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822960"/>
            <a:ext cx="11686032" cy="16459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0" y="128016"/>
            <a:ext cx="1645920" cy="457200"/>
          </a:xfrm>
          <a:prstGeom prst="rect">
            <a:avLst/>
          </a:prstGeom>
          <a:solidFill>
            <a:srgbClr val="0F1A1A"/>
          </a:solidFill>
          <a:ln w="6350">
            <a:solidFill>
              <a:srgbClr val="2B8E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77856" y="173736"/>
            <a:ext cx="365760" cy="365760"/>
          </a:xfrm>
          <a:prstGeom prst="ellipse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77856" y="173736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80">
                <a:solidFill>
                  <a:srgbClr val="FFFFFF"/>
                </a:solidFill>
              </a:rPr>
              <a:t>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0191" y="182880"/>
            <a:ext cx="1207008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 i="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1" y="374904"/>
            <a:ext cx="1207008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3AAEAE"/>
                </a:solidFill>
              </a:rPr>
              <a:t>velasync.co.uk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1440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SALES ADVISOR QUICK REFERENCE  ·  PAGE 1 OF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56032"/>
            <a:ext cx="8229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The Complete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713232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0" i="0">
                <a:solidFill>
                  <a:srgbClr val="AAD4D4"/>
                </a:solidFill>
              </a:rPr>
              <a:t>Know every stage. Hit every beat. Close every room — zero ambiguity, one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960120"/>
            <a:ext cx="1892807" cy="9326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960120"/>
            <a:ext cx="1892807" cy="2286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" y="996696"/>
            <a:ext cx="1801367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2B8E8E"/>
                </a:solidFill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" y="1271016"/>
            <a:ext cx="1801367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" b="1" i="0">
                <a:solidFill>
                  <a:srgbClr val="3AAEAE"/>
                </a:solidFill>
              </a:rPr>
              <a:t>ONBOARDING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" y="1417320"/>
            <a:ext cx="180136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Know every package, price &amp; KPI cold. Tools ready. Don't speak to a prospect until this is done.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31136" y="1289304"/>
            <a:ext cx="91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59152" y="960120"/>
            <a:ext cx="1892807" cy="9326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59152" y="960120"/>
            <a:ext cx="1892807" cy="2286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14016" y="996696"/>
            <a:ext cx="1801367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2B8E8E"/>
                </a:solidFill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14016" y="1271016"/>
            <a:ext cx="1801367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" b="1" i="0">
                <a:solidFill>
                  <a:srgbClr val="3AAEAE"/>
                </a:solidFill>
              </a:rPr>
              <a:t>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14016" y="1417320"/>
            <a:ext cx="180136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10 min before every meeting. Google, site check, Maps rating, 3 competitors. Walk in knowing their problem.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808" y="1289304"/>
            <a:ext cx="91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960120"/>
            <a:ext cx="1892807" cy="9326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960120"/>
            <a:ext cx="1892807" cy="2286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61688" y="996696"/>
            <a:ext cx="1801367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2B8E8E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1271016"/>
            <a:ext cx="1801367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" b="1" i="0">
                <a:solidFill>
                  <a:srgbClr val="3AAEAE"/>
                </a:solidFill>
              </a:rPr>
              <a:t>DISCOVERY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1417320"/>
            <a:ext cx="180136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6 questions in sequence. Listen deeply. Take notes visibly. Feed answers back verbatim before you reveal.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79" y="1289304"/>
            <a:ext cx="91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54496" y="960120"/>
            <a:ext cx="1892807" cy="9326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54496" y="960120"/>
            <a:ext cx="1892807" cy="2286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59" y="996696"/>
            <a:ext cx="1801367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2B8E8E"/>
                </a:solidFill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59" y="1271016"/>
            <a:ext cx="1801367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" b="1" i="0">
                <a:solidFill>
                  <a:srgbClr val="3AAEAE"/>
                </a:solidFill>
              </a:rPr>
              <a:t>REVEAL &amp; PITCH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1417320"/>
            <a:ext cx="180136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Bridge their pain → silent demo → anchor £2,000+ → land £450 or £650. Contrast does the selling.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74152" y="1289304"/>
            <a:ext cx="91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7" y="960120"/>
            <a:ext cx="1892807" cy="9326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02167" y="960120"/>
            <a:ext cx="1892807" cy="2286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57031" y="996696"/>
            <a:ext cx="1801367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2B8E8E"/>
                </a:solidFill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57031" y="1271016"/>
            <a:ext cx="1801367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" b="1" i="0">
                <a:solidFill>
                  <a:srgbClr val="3AAEAE"/>
                </a:solidFill>
              </a:rPr>
              <a:t>CLOSE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1417320"/>
            <a:ext cx="180136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Acknowledge every objection. Reframe. Pick a close technique. Ask once — then stop talking.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21824" y="1289304"/>
            <a:ext cx="91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49839" y="960120"/>
            <a:ext cx="1892807" cy="9326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49839" y="960120"/>
            <a:ext cx="1892807" cy="2286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04703" y="996696"/>
            <a:ext cx="1801367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2B8E8E"/>
                </a:solidFill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04703" y="1271016"/>
            <a:ext cx="1801367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" b="1" i="0">
                <a:solidFill>
                  <a:srgbClr val="3AAEAE"/>
                </a:solidFill>
              </a:rPr>
              <a:t>POST-CLOSE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04703" y="1417320"/>
            <a:ext cx="180136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Invoice same day. CRM logged. Brief call booked before you leave. Site live within 24 hours.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1965960"/>
            <a:ext cx="3154680" cy="16459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11480" y="1965960"/>
            <a:ext cx="22860" cy="16459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1480" y="1965960"/>
            <a:ext cx="3154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  STAGE 02 — PRE-MEETING RESEARCH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2157984"/>
            <a:ext cx="3154680" cy="34747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2157984"/>
            <a:ext cx="22860" cy="34747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38912" y="2231136"/>
            <a:ext cx="201168" cy="2011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8912" y="2231136"/>
            <a:ext cx="20116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2194560"/>
            <a:ext cx="2843784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EEF7F7"/>
                </a:solidFill>
              </a:rPr>
              <a:t>Google Them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2331720"/>
            <a:ext cx="28437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Search the business. Do they appear? What comes up first — them or a competitor?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1480" y="2532888"/>
            <a:ext cx="3154680" cy="34747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11480" y="2532888"/>
            <a:ext cx="22860" cy="34747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8912" y="2606040"/>
            <a:ext cx="201168" cy="2011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" y="2606040"/>
            <a:ext cx="20116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2569464"/>
            <a:ext cx="2843784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EEF7F7"/>
                </a:solidFill>
              </a:rPr>
              <a:t>Check Their Site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2706624"/>
            <a:ext cx="28437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Is it mobile-friendly? Fast? Does it convert — or is it a liability?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2907792"/>
            <a:ext cx="3154680" cy="34747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11480" y="2907792"/>
            <a:ext cx="22860" cy="34747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38912" y="2980944"/>
            <a:ext cx="201168" cy="2011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912" y="2980944"/>
            <a:ext cx="20116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2944368"/>
            <a:ext cx="2843784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EEF7F7"/>
                </a:solidFill>
              </a:rPr>
              <a:t>Google Maps Rating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3081528"/>
            <a:ext cx="28437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Low score = reputation problem. No reviews = visibility problem. You solve both.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3282696"/>
            <a:ext cx="3154680" cy="34747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11480" y="3282696"/>
            <a:ext cx="22860" cy="34747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38912" y="3355848"/>
            <a:ext cx="201168" cy="2011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8912" y="3355848"/>
            <a:ext cx="20116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3319272"/>
            <a:ext cx="2843784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EEF7F7"/>
                </a:solidFill>
              </a:rPr>
              <a:t>Competitor Audit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3456432"/>
            <a:ext cx="28437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Find top 3 local competitors. Check their online presence. Use it to create urgency.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3657600"/>
            <a:ext cx="3154680" cy="475488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11480" y="3657600"/>
            <a:ext cx="32004" cy="475488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75488" y="3694176"/>
            <a:ext cx="3063240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1" i="0">
                <a:solidFill>
                  <a:srgbClr val="3AAEAE"/>
                </a:solidFill>
              </a:rPr>
              <a:t>OPENING LINE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5488" y="3813048"/>
            <a:ext cx="3063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" b="0" i="1">
                <a:solidFill>
                  <a:srgbClr val="EEF7F7"/>
                </a:solidFill>
              </a:rPr>
              <a:t>"I had a look at your business before coming in. I noticed a few things — but first, tell me how business has been. Are you getting as many new customers as you want?"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4160520"/>
            <a:ext cx="31546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E0A040"/>
                </a:solidFill>
              </a:rPr>
              <a:t>⛔  Never open with the product. Open with their world — not yours. The product comes third.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48456" y="1965960"/>
            <a:ext cx="3931920" cy="16459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648456" y="1965960"/>
            <a:ext cx="22860" cy="16459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648456" y="1965960"/>
            <a:ext cx="3931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  BUYING SIGNALS — READ THE ROOM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48456" y="2157984"/>
            <a:ext cx="19202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1" i="0">
                <a:solidFill>
                  <a:srgbClr val="3AAEAE"/>
                </a:solidFill>
              </a:rPr>
              <a:t>✅  GREEN — ADVANCE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648456" y="2313432"/>
            <a:ext cx="1920240" cy="14630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48456" y="2313432"/>
            <a:ext cx="18288" cy="146304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94176" y="2331720"/>
            <a:ext cx="185623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"That looks really good"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48456" y="2473452"/>
            <a:ext cx="1920240" cy="14630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648456" y="2473452"/>
            <a:ext cx="18288" cy="146304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694176" y="2491740"/>
            <a:ext cx="185623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Leans toward the screen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48456" y="2633472"/>
            <a:ext cx="1920240" cy="14630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48456" y="2633472"/>
            <a:ext cx="18288" cy="146304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94176" y="2651760"/>
            <a:ext cx="185623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Asks logistics / timeline questions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48456" y="2793492"/>
            <a:ext cx="1920240" cy="14630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648456" y="2793492"/>
            <a:ext cx="18288" cy="146304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694176" y="2811780"/>
            <a:ext cx="185623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"Can you do it in our colours?"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48456" y="2953512"/>
            <a:ext cx="1920240" cy="14630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648456" y="2953512"/>
            <a:ext cx="18288" cy="146304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694176" y="2971800"/>
            <a:ext cx="185623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Looks at colleague for approval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41848" y="2157984"/>
            <a:ext cx="19202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1" i="0">
                <a:solidFill>
                  <a:srgbClr val="E0A040"/>
                </a:solidFill>
              </a:rPr>
              <a:t>⚠️  CAUTION — ADJUST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641848" y="2313432"/>
            <a:ext cx="1920240" cy="146304"/>
          </a:xfrm>
          <a:prstGeom prst="rect">
            <a:avLst/>
          </a:prstGeom>
          <a:solidFill>
            <a:srgbClr val="1E1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641848" y="2313432"/>
            <a:ext cx="18288" cy="146304"/>
          </a:xfrm>
          <a:prstGeom prst="rect">
            <a:avLst/>
          </a:prstGeom>
          <a:solidFill>
            <a:srgbClr val="E0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687568" y="2331720"/>
            <a:ext cx="185623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C8A060"/>
                </a:solidFill>
              </a:rPr>
              <a:t>Arms crossed, leaning back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641848" y="2473452"/>
            <a:ext cx="1920240" cy="146304"/>
          </a:xfrm>
          <a:prstGeom prst="rect">
            <a:avLst/>
          </a:prstGeom>
          <a:solidFill>
            <a:srgbClr val="1E1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641848" y="2473452"/>
            <a:ext cx="18288" cy="146304"/>
          </a:xfrm>
          <a:prstGeom prst="rect">
            <a:avLst/>
          </a:prstGeom>
          <a:solidFill>
            <a:srgbClr val="E0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87568" y="2491740"/>
            <a:ext cx="185623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C8A060"/>
                </a:solidFill>
              </a:rPr>
              <a:t>"We need to talk to our accountant"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641848" y="2633472"/>
            <a:ext cx="1920240" cy="146304"/>
          </a:xfrm>
          <a:prstGeom prst="rect">
            <a:avLst/>
          </a:prstGeom>
          <a:solidFill>
            <a:srgbClr val="1E1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641848" y="2633472"/>
            <a:ext cx="18288" cy="146304"/>
          </a:xfrm>
          <a:prstGeom prst="rect">
            <a:avLst/>
          </a:prstGeom>
          <a:solidFill>
            <a:srgbClr val="E0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687568" y="2651760"/>
            <a:ext cx="185623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C8A060"/>
                </a:solidFill>
              </a:rPr>
              <a:t>"We'll think about it"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41848" y="2793492"/>
            <a:ext cx="1920240" cy="146304"/>
          </a:xfrm>
          <a:prstGeom prst="rect">
            <a:avLst/>
          </a:prstGeom>
          <a:solidFill>
            <a:srgbClr val="1E1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41848" y="2793492"/>
            <a:ext cx="18288" cy="146304"/>
          </a:xfrm>
          <a:prstGeom prst="rect">
            <a:avLst/>
          </a:prstGeom>
          <a:solidFill>
            <a:srgbClr val="E0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687568" y="2811780"/>
            <a:ext cx="185623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C8A060"/>
                </a:solidFill>
              </a:rPr>
              <a:t>Checking their phone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641848" y="2953512"/>
            <a:ext cx="1920240" cy="146304"/>
          </a:xfrm>
          <a:prstGeom prst="rect">
            <a:avLst/>
          </a:prstGeom>
          <a:solidFill>
            <a:srgbClr val="1E1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641848" y="2953512"/>
            <a:ext cx="18288" cy="146304"/>
          </a:xfrm>
          <a:prstGeom prst="rect">
            <a:avLst/>
          </a:prstGeom>
          <a:solidFill>
            <a:srgbClr val="E0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687568" y="2971800"/>
            <a:ext cx="185623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C8A060"/>
                </a:solidFill>
              </a:rPr>
              <a:t>Repeated glances at the door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48456" y="3204972"/>
            <a:ext cx="3931920" cy="16459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648456" y="3204972"/>
            <a:ext cx="22860" cy="16459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648456" y="3204972"/>
            <a:ext cx="3931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  POST-CLOSE DELIVERY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648456" y="3396996"/>
            <a:ext cx="3931920" cy="30175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648456" y="3396996"/>
            <a:ext cx="256032" cy="30175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648456" y="3461004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941064" y="3424428"/>
            <a:ext cx="3602736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1" i="0">
                <a:solidFill>
                  <a:srgbClr val="EEF7F7"/>
                </a:solidFill>
              </a:rPr>
              <a:t>IMMEDIATELY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941064" y="3552444"/>
            <a:ext cx="360273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Log in CRM · notify build team · 24h clock starts NOW.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648456" y="3726180"/>
            <a:ext cx="3931920" cy="30175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648456" y="3726180"/>
            <a:ext cx="256032" cy="30175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648456" y="3790188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41064" y="3753612"/>
            <a:ext cx="3602736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1" i="0">
                <a:solidFill>
                  <a:srgbClr val="EEF7F7"/>
                </a:solidFill>
              </a:rPr>
              <a:t>SAME DAY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941064" y="3881628"/>
            <a:ext cx="360273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30-min brief with design team — brand, copy, domain.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648456" y="4055364"/>
            <a:ext cx="3931920" cy="30175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648456" y="4055364"/>
            <a:ext cx="256032" cy="30175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48456" y="4119372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941064" y="4082796"/>
            <a:ext cx="3602736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1" i="0">
                <a:solidFill>
                  <a:srgbClr val="EEF7F7"/>
                </a:solidFill>
              </a:rPr>
              <a:t>WITHIN 24H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41064" y="4210812"/>
            <a:ext cx="360273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Build complete · client reviews · revisions · site live.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48456" y="4439412"/>
            <a:ext cx="192024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1" i="0">
                <a:solidFill>
                  <a:srgbClr val="3AAEAE"/>
                </a:solidFill>
              </a:rPr>
              <a:t>✅  ALWAYS DO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648456" y="4594860"/>
            <a:ext cx="1920240" cy="1371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648456" y="4594860"/>
            <a:ext cx="18288" cy="1371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694176" y="4613148"/>
            <a:ext cx="185623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Invoice same day as close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648456" y="4745736"/>
            <a:ext cx="1920240" cy="1371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648456" y="4745736"/>
            <a:ext cx="18288" cy="1371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694176" y="4764024"/>
            <a:ext cx="185623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Confirm payment terms in writing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648456" y="4896612"/>
            <a:ext cx="1920240" cy="1371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648456" y="4896612"/>
            <a:ext cx="18288" cy="1371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694176" y="4914900"/>
            <a:ext cx="185623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Lock in brief call before leaving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3648456" y="5047488"/>
            <a:ext cx="1920240" cy="1371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648456" y="5047488"/>
            <a:ext cx="18288" cy="1371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694176" y="5065776"/>
            <a:ext cx="185623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Log every interaction in CRM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641848" y="4439412"/>
            <a:ext cx="192024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1" i="0">
                <a:solidFill>
                  <a:srgbClr val="C04040"/>
                </a:solidFill>
              </a:rPr>
              <a:t>⛔  NEVER DO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641848" y="4594860"/>
            <a:ext cx="1920240" cy="137160"/>
          </a:xfrm>
          <a:prstGeom prst="rect">
            <a:avLst/>
          </a:prstGeom>
          <a:solidFill>
            <a:srgbClr val="1E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641848" y="4594860"/>
            <a:ext cx="18288" cy="137160"/>
          </a:xfrm>
          <a:prstGeom prst="rect">
            <a:avLst/>
          </a:prstGeom>
          <a:solidFill>
            <a:srgbClr val="C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687568" y="4613148"/>
            <a:ext cx="185623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C09090"/>
                </a:solidFill>
              </a:rPr>
              <a:t>Hand over site before payment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641848" y="4745736"/>
            <a:ext cx="1920240" cy="137160"/>
          </a:xfrm>
          <a:prstGeom prst="rect">
            <a:avLst/>
          </a:prstGeom>
          <a:solidFill>
            <a:srgbClr val="1E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5641848" y="4745736"/>
            <a:ext cx="18288" cy="137160"/>
          </a:xfrm>
          <a:prstGeom prst="rect">
            <a:avLst/>
          </a:prstGeom>
          <a:solidFill>
            <a:srgbClr val="C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687568" y="4764024"/>
            <a:ext cx="185623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C09090"/>
                </a:solidFill>
              </a:rPr>
              <a:t>Leave without a next step defined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641848" y="4896612"/>
            <a:ext cx="1920240" cy="137160"/>
          </a:xfrm>
          <a:prstGeom prst="rect">
            <a:avLst/>
          </a:prstGeom>
          <a:solidFill>
            <a:srgbClr val="1E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641848" y="4896612"/>
            <a:ext cx="18288" cy="137160"/>
          </a:xfrm>
          <a:prstGeom prst="rect">
            <a:avLst/>
          </a:prstGeom>
          <a:solidFill>
            <a:srgbClr val="C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687568" y="4914900"/>
            <a:ext cx="185623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C09090"/>
                </a:solidFill>
              </a:rPr>
              <a:t>Accept "call me when you're ready"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641848" y="5047488"/>
            <a:ext cx="1920240" cy="137160"/>
          </a:xfrm>
          <a:prstGeom prst="rect">
            <a:avLst/>
          </a:prstGeom>
          <a:solidFill>
            <a:srgbClr val="1E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5641848" y="5047488"/>
            <a:ext cx="18288" cy="137160"/>
          </a:xfrm>
          <a:prstGeom prst="rect">
            <a:avLst/>
          </a:prstGeom>
          <a:solidFill>
            <a:srgbClr val="C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687568" y="5065776"/>
            <a:ext cx="185623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C09090"/>
                </a:solidFill>
              </a:rPr>
              <a:t>Agree verbal-only instalment terms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662671" y="1965960"/>
            <a:ext cx="4434839" cy="16459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7662671" y="1965960"/>
            <a:ext cx="22860" cy="16459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7662671" y="1965960"/>
            <a:ext cx="4434839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  WEEKLY SCHEDULE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662671" y="2157984"/>
            <a:ext cx="4434839" cy="23774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7662671" y="2157984"/>
            <a:ext cx="320040" cy="2377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662671" y="2203704"/>
            <a:ext cx="3200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50" b="1" i="0">
                <a:solidFill>
                  <a:srgbClr val="FFFFFF"/>
                </a:solidFill>
              </a:rPr>
              <a:t>MON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010144" y="2212848"/>
            <a:ext cx="4050791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11:00 Diary Alignment · 5:00 KPI Review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662671" y="2418588"/>
            <a:ext cx="4434839" cy="23774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662671" y="2418588"/>
            <a:ext cx="320040" cy="2377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7662671" y="2464308"/>
            <a:ext cx="3200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50" b="1" i="0">
                <a:solidFill>
                  <a:srgbClr val="FFFFFF"/>
                </a:solidFill>
              </a:rPr>
              <a:t>TUE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010144" y="2473452"/>
            <a:ext cx="4050791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5:00 PM Daily Touch Point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7662671" y="2679192"/>
            <a:ext cx="4434839" cy="23774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7662671" y="2679192"/>
            <a:ext cx="320040" cy="2377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7662671" y="2724912"/>
            <a:ext cx="3200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50" b="1" i="0">
                <a:solidFill>
                  <a:srgbClr val="FFFFFF"/>
                </a:solidFill>
              </a:rPr>
              <a:t>WED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8010144" y="2734056"/>
            <a:ext cx="4050791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5:00 PM Daily Touch Point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662671" y="2939796"/>
            <a:ext cx="4434839" cy="23774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7662671" y="2939796"/>
            <a:ext cx="320040" cy="2377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662671" y="2985516"/>
            <a:ext cx="3200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50" b="1" i="0">
                <a:solidFill>
                  <a:srgbClr val="FFFFFF"/>
                </a:solidFill>
              </a:rPr>
              <a:t>THU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010144" y="2994660"/>
            <a:ext cx="4050791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5:00 Fwd Planning · 5:00 Daily Touch Point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662671" y="3200400"/>
            <a:ext cx="4434839" cy="23774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662671" y="3200400"/>
            <a:ext cx="320040" cy="2377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7662671" y="3246120"/>
            <a:ext cx="3200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50" b="1" i="0">
                <a:solidFill>
                  <a:srgbClr val="FFFFFF"/>
                </a:solidFill>
              </a:rPr>
              <a:t>FRI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8010144" y="3255264"/>
            <a:ext cx="4050791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5:00 PM Daily Touch Point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7662671" y="3497580"/>
            <a:ext cx="4434839" cy="16459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7662671" y="3497580"/>
            <a:ext cx="22860" cy="16459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7662671" y="3497580"/>
            <a:ext cx="4434839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  DAILY CALL SPRINTS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7662671" y="3689604"/>
            <a:ext cx="1088135" cy="384048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7662671" y="3689604"/>
            <a:ext cx="22860" cy="384048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708392" y="3717036"/>
            <a:ext cx="1024127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9–11AM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708392" y="3872484"/>
            <a:ext cx="1024127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Sprint 1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8778239" y="3689604"/>
            <a:ext cx="1088135" cy="384048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8778239" y="3689604"/>
            <a:ext cx="22860" cy="384048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8823959" y="3717036"/>
            <a:ext cx="1024127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11–12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823959" y="3872484"/>
            <a:ext cx="1024127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Admin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9893807" y="3689604"/>
            <a:ext cx="1088135" cy="384048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893807" y="3689604"/>
            <a:ext cx="22860" cy="384048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9939528" y="3717036"/>
            <a:ext cx="1024127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12–2PM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9939528" y="3872484"/>
            <a:ext cx="1024127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Sprint 2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11009376" y="3689604"/>
            <a:ext cx="1088135" cy="384048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1009376" y="3689604"/>
            <a:ext cx="22860" cy="384048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1055096" y="3717036"/>
            <a:ext cx="1024127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4–6PM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1055096" y="3872484"/>
            <a:ext cx="1024127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Sprint 3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7662671" y="4119372"/>
            <a:ext cx="4434839" cy="16459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662671" y="4119372"/>
            <a:ext cx="22860" cy="16459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7662671" y="4119372"/>
            <a:ext cx="4434839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  KPI TARGETS — NON-NEGOTIABLE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7662671" y="4311396"/>
            <a:ext cx="1463039" cy="43891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7662671" y="4713732"/>
            <a:ext cx="1463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662671" y="4338828"/>
            <a:ext cx="14630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3AAEAE"/>
                </a:solidFill>
              </a:rPr>
              <a:t>500+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662671" y="4604004"/>
            <a:ext cx="1463039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" b="0" i="0">
                <a:solidFill>
                  <a:srgbClr val="AAD4D4"/>
                </a:solidFill>
              </a:rPr>
              <a:t>Calls/wk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9148572" y="4311396"/>
            <a:ext cx="1463039" cy="43891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9148572" y="4713732"/>
            <a:ext cx="1463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9148572" y="4338828"/>
            <a:ext cx="14630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3AAEAE"/>
                </a:solidFill>
              </a:rPr>
              <a:t>5+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148572" y="4604004"/>
            <a:ext cx="1463039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" b="0" i="0">
                <a:solidFill>
                  <a:srgbClr val="AAD4D4"/>
                </a:solidFill>
              </a:rPr>
              <a:t>Closes/wk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10634472" y="4311396"/>
            <a:ext cx="1463039" cy="43891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10634472" y="4713732"/>
            <a:ext cx="1463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634472" y="4338828"/>
            <a:ext cx="14630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3AAEAE"/>
                </a:solidFill>
              </a:rPr>
              <a:t>24h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0634472" y="4604004"/>
            <a:ext cx="1463039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" b="0" i="0">
                <a:solidFill>
                  <a:srgbClr val="AAD4D4"/>
                </a:solidFill>
              </a:rPr>
              <a:t>Site live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662671" y="4786884"/>
            <a:ext cx="1463039" cy="43891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7662671" y="5189220"/>
            <a:ext cx="1463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7662671" y="4814316"/>
            <a:ext cx="14630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3AAEAE"/>
                </a:solidFill>
              </a:rPr>
              <a:t>£450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7662671" y="5079492"/>
            <a:ext cx="1463039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" b="0" i="0">
                <a:solidFill>
                  <a:srgbClr val="AAD4D4"/>
                </a:solidFill>
              </a:rPr>
              <a:t>Min deal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148572" y="4786884"/>
            <a:ext cx="1463039" cy="43891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9148572" y="5189220"/>
            <a:ext cx="1463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9148572" y="4814316"/>
            <a:ext cx="14630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3AAEAE"/>
                </a:solidFill>
              </a:rPr>
              <a:t>100%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9148572" y="5079492"/>
            <a:ext cx="1463039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" b="0" i="0">
                <a:solidFill>
                  <a:srgbClr val="AAD4D4"/>
                </a:solidFill>
              </a:rPr>
              <a:t>Warm leads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10634472" y="4786884"/>
            <a:ext cx="1463039" cy="43891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0634472" y="5189220"/>
            <a:ext cx="1463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10634472" y="4814316"/>
            <a:ext cx="14630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3AAEAE"/>
                </a:solidFill>
              </a:rPr>
              <a:t>£2k+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634472" y="5079492"/>
            <a:ext cx="1463039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" b="0" i="0">
                <a:solidFill>
                  <a:srgbClr val="AAD4D4"/>
                </a:solidFill>
              </a:rPr>
              <a:t>Anchor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662671" y="5298948"/>
            <a:ext cx="4434839" cy="16459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7662671" y="5298948"/>
            <a:ext cx="22860" cy="16459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7662671" y="5298948"/>
            <a:ext cx="4434839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  SUPPORT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7662671" y="5490972"/>
            <a:ext cx="4434839" cy="27432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7662671" y="5490972"/>
            <a:ext cx="22860" cy="274320"/>
          </a:xfrm>
          <a:prstGeom prst="rect">
            <a:avLst/>
          </a:prstGeom>
          <a:solidFill>
            <a:srgbClr val="1F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7708392" y="5545836"/>
            <a:ext cx="1828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🔴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7936992" y="5527548"/>
            <a:ext cx="4123943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EEF7F7"/>
                </a:solidFill>
              </a:rPr>
              <a:t>MD Direct Line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7936992" y="5655564"/>
            <a:ext cx="4123943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6A9999"/>
                </a:solidFill>
              </a:rPr>
              <a:t>24/7 available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7662671" y="5792724"/>
            <a:ext cx="4434839" cy="27432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7662671" y="5792724"/>
            <a:ext cx="22860" cy="274320"/>
          </a:xfrm>
          <a:prstGeom prst="rect">
            <a:avLst/>
          </a:prstGeom>
          <a:solidFill>
            <a:srgbClr val="1F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7708392" y="5847588"/>
            <a:ext cx="1828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🎯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7936992" y="5829300"/>
            <a:ext cx="4123943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EEF7F7"/>
                </a:solidFill>
              </a:rPr>
              <a:t>Bi-Weekly 1:1s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936992" y="5957316"/>
            <a:ext cx="4123943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6A9999"/>
                </a:solidFill>
              </a:rPr>
              <a:t>Every 2 weeks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7662671" y="6094476"/>
            <a:ext cx="4434839" cy="27432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7662671" y="6094476"/>
            <a:ext cx="22860" cy="274320"/>
          </a:xfrm>
          <a:prstGeom prst="rect">
            <a:avLst/>
          </a:prstGeom>
          <a:solidFill>
            <a:srgbClr val="1F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7708392" y="6149340"/>
            <a:ext cx="1828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936992" y="6131052"/>
            <a:ext cx="4123943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EEF7F7"/>
                </a:solidFill>
              </a:rPr>
              <a:t>Dev Plan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7936992" y="6259068"/>
            <a:ext cx="4123943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6A9999"/>
                </a:solidFill>
              </a:rPr>
              <a:t>Annual roadmap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0" y="6638544"/>
            <a:ext cx="12188952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0" y="6675120"/>
            <a:ext cx="1218895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 i="0">
                <a:solidFill>
                  <a:srgbClr val="2B8E8E"/>
                </a:solidFill>
              </a:rPr>
              <a:t>INTERNAL OPERATIONS  ·  CONFIDENTIAL  ·  NOT FOR DISTRIBUTION  ·  © 2026 VELA SYNC LTD  ·  CO. NO. 17051204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" y="0"/>
            <a:ext cx="12143232" cy="896112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822960"/>
            <a:ext cx="11686032" cy="16459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0" y="128016"/>
            <a:ext cx="1645920" cy="457200"/>
          </a:xfrm>
          <a:prstGeom prst="rect">
            <a:avLst/>
          </a:prstGeom>
          <a:solidFill>
            <a:srgbClr val="0F1A1A"/>
          </a:solidFill>
          <a:ln w="6350">
            <a:solidFill>
              <a:srgbClr val="2B8E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77856" y="173736"/>
            <a:ext cx="365760" cy="365760"/>
          </a:xfrm>
          <a:prstGeom prst="ellipse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77856" y="173736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80">
                <a:solidFill>
                  <a:srgbClr val="FFFFFF"/>
                </a:solidFill>
              </a:rPr>
              <a:t>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0191" y="182880"/>
            <a:ext cx="1207008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 i="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1" y="374904"/>
            <a:ext cx="1207008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 b="0" i="0">
                <a:solidFill>
                  <a:srgbClr val="3AAEAE"/>
                </a:solidFill>
              </a:rPr>
              <a:t>velasync.co.uk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1440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SALES ADVISOR QUICK REFERENCE  ·  PAGE 2 OF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56032"/>
            <a:ext cx="91440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Scripts, Objections &amp; Close Toolkit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713232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0" i="0">
                <a:solidFill>
                  <a:srgbClr val="AAD4D4"/>
                </a:solidFill>
              </a:rPr>
              <a:t>Every word matters. Every silence is a weapon. Know this cold.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960120"/>
            <a:ext cx="2859786" cy="16459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960120"/>
            <a:ext cx="22860" cy="16459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960120"/>
            <a:ext cx="285978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  6 DISCOVERY QUESTIONS — IN ORDER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152144"/>
            <a:ext cx="2859786" cy="3657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1152144"/>
            <a:ext cx="201168" cy="36576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1252728"/>
            <a:ext cx="2011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1179576"/>
            <a:ext cx="2594610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50" b="1" i="0">
                <a:solidFill>
                  <a:srgbClr val="3AAEAE"/>
                </a:solidFill>
              </a:rPr>
              <a:t>Current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1298448"/>
            <a:ext cx="25946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" b="0" i="1">
                <a:solidFill>
                  <a:srgbClr val="EEF7F7"/>
                </a:solidFill>
              </a:rPr>
              <a:t>"When a potential customer Googles you right now — what do they find?"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1545336"/>
            <a:ext cx="2859786" cy="3657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1545336"/>
            <a:ext cx="201168" cy="36576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1645919"/>
            <a:ext cx="2011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1572768"/>
            <a:ext cx="2594610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50" b="1" i="0">
                <a:solidFill>
                  <a:srgbClr val="3AAEAE"/>
                </a:solidFill>
              </a:rPr>
              <a:t>Awareness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1691639"/>
            <a:ext cx="25946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" b="0" i="1">
                <a:solidFill>
                  <a:srgbClr val="EEF7F7"/>
                </a:solidFill>
              </a:rPr>
              <a:t>"How are most of your customers finding you at the moment?"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1938528"/>
            <a:ext cx="2859786" cy="3657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1938528"/>
            <a:ext cx="201168" cy="36576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039112"/>
            <a:ext cx="2011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1965960"/>
            <a:ext cx="2594610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50" b="1" i="0">
                <a:solidFill>
                  <a:srgbClr val="3AAEAE"/>
                </a:solidFill>
              </a:rPr>
              <a:t>Competition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2084832"/>
            <a:ext cx="25946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" b="0" i="1">
                <a:solidFill>
                  <a:srgbClr val="EEF7F7"/>
                </a:solidFill>
              </a:rPr>
              <a:t>"Have you looked at what your top three competitors are doing online?"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331720"/>
            <a:ext cx="2859786" cy="3657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2331720"/>
            <a:ext cx="201168" cy="36576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2432304"/>
            <a:ext cx="2011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2359152"/>
            <a:ext cx="2594610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50" b="1" i="0">
                <a:solidFill>
                  <a:srgbClr val="3AAEAE"/>
                </a:solidFill>
              </a:rPr>
              <a:t>Revenue Impact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2478024"/>
            <a:ext cx="25946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" b="0" i="1">
                <a:solidFill>
                  <a:srgbClr val="EEF7F7"/>
                </a:solidFill>
              </a:rPr>
              <a:t>"76% research online first — what does that mean for the customers you're missing?"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2724912"/>
            <a:ext cx="2859786" cy="3657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2724912"/>
            <a:ext cx="201168" cy="36576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2825496"/>
            <a:ext cx="2011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2752344"/>
            <a:ext cx="2594610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50" b="1" i="0">
                <a:solidFill>
                  <a:srgbClr val="3AAEAE"/>
                </a:solidFill>
              </a:rPr>
              <a:t>Previous Experience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2871216"/>
            <a:ext cx="25946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" b="0" i="1">
                <a:solidFill>
                  <a:srgbClr val="EEF7F7"/>
                </a:solidFill>
              </a:rPr>
              <a:t>"Have you ever tried to get a website built before? What happened?"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3118104"/>
            <a:ext cx="2859786" cy="3657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1480" y="3118104"/>
            <a:ext cx="201168" cy="3657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3218688"/>
            <a:ext cx="2011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3145536"/>
            <a:ext cx="2594610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50" b="1" i="0">
                <a:solidFill>
                  <a:srgbClr val="5ECECE"/>
                </a:solidFill>
              </a:rPr>
              <a:t>Future Vision ★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3264408"/>
            <a:ext cx="25946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" b="0" i="1">
                <a:solidFill>
                  <a:srgbClr val="EEF7F7"/>
                </a:solidFill>
              </a:rPr>
              <a:t>"If your digital presence was exactly where you wanted it — what would change?"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3511296"/>
            <a:ext cx="2859786" cy="32004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" y="3511296"/>
            <a:ext cx="27432" cy="32004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488" y="3557016"/>
            <a:ext cx="276834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EEF7F7"/>
                </a:solidFill>
              </a:rPr>
              <a:t>💡  After Q6: "So if I've understood you correctly…" — feed answers back verbatim. Validates concerns, amplifies the pain, sets up the pitch. Never skip this.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3858768"/>
            <a:ext cx="2859786" cy="16459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3858768"/>
            <a:ext cx="22860" cy="16459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3858768"/>
            <a:ext cx="285978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  PRICE REVEAL — 4 STEPS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4050792"/>
            <a:ext cx="2859786" cy="23774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11480" y="4050792"/>
            <a:ext cx="22860" cy="2377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6344" y="4096512"/>
            <a:ext cx="277749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EEF7F7"/>
                </a:solidFill>
              </a:rPr>
              <a:t>1  Bridge the pain — summarise their answers. Make them feel heard.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4311396"/>
            <a:ext cx="2859786" cy="23774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1480" y="4311396"/>
            <a:ext cx="22860" cy="2377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6344" y="4357116"/>
            <a:ext cx="277749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EEF7F7"/>
                </a:solidFill>
              </a:rPr>
              <a:t>2  Open draft site silently. Scroll slowly. When they lean in — that's your pivot.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4572000"/>
            <a:ext cx="2859786" cy="23774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1480" y="4572000"/>
            <a:ext cx="22860" cy="2377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6344" y="4617720"/>
            <a:ext cx="277749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1">
                <a:solidFill>
                  <a:srgbClr val="EEF7F7"/>
                </a:solidFill>
              </a:rPr>
              <a:t>3  "Traditional agency — £2,000 minimum. We charge £450. Live tomorrow."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4832604"/>
            <a:ext cx="2859786" cy="23774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11480" y="4832604"/>
            <a:ext cx="22860" cy="237744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6344" y="4878324"/>
            <a:ext cx="277749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EEF7F7"/>
                </a:solidFill>
              </a:rPr>
              <a:t>4  Silence. The next person who speaks loses.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53562" y="960120"/>
            <a:ext cx="2859786" cy="16459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53562" y="960120"/>
            <a:ext cx="22860" cy="16459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53562" y="960120"/>
            <a:ext cx="285978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  OBJECTION RESPONSES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353562" y="1152144"/>
            <a:ext cx="2859786" cy="42062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53562" y="1152144"/>
            <a:ext cx="22860" cy="420624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408426" y="1188720"/>
            <a:ext cx="2786634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</a:rPr>
              <a:t>"We already have a website."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08426" y="1344168"/>
            <a:ext cx="278663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" b="0" i="0">
                <a:solidFill>
                  <a:srgbClr val="AAD4D4"/>
                </a:solidFill>
              </a:rPr>
              <a:t>Is it ranking? Is it bringing in enquiries — or a digital brochure nobody reads?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353562" y="1600200"/>
            <a:ext cx="2859786" cy="42062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353562" y="1600200"/>
            <a:ext cx="22860" cy="420624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08426" y="1636776"/>
            <a:ext cx="2786634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</a:rPr>
              <a:t>"£450 seems too cheap."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08426" y="1792224"/>
            <a:ext cx="278663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" b="0" i="0">
                <a:solidFill>
                  <a:srgbClr val="AAD4D4"/>
                </a:solidFill>
              </a:rPr>
              <a:t>You've just seen it. That is the quality. Enterprise engineers, zero agency overhead.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353562" y="2048256"/>
            <a:ext cx="2859786" cy="42062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53562" y="2048256"/>
            <a:ext cx="22860" cy="420624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408426" y="2084832"/>
            <a:ext cx="2786634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</a:rPr>
              <a:t>"We need to think about it."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08426" y="2240280"/>
            <a:ext cx="278663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" b="0" i="0">
                <a:solidFill>
                  <a:srgbClr val="AAD4D4"/>
                </a:solidFill>
              </a:rPr>
              <a:t>What specifically? Name the real objection. Then stop talking. Silence forces the answer.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353562" y="2496312"/>
            <a:ext cx="2859786" cy="42062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353562" y="2496312"/>
            <a:ext cx="22860" cy="420624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408426" y="2532888"/>
            <a:ext cx="2786634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</a:rPr>
              <a:t>"We want a few quotes first."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408426" y="2688336"/>
            <a:ext cx="278663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" b="0" i="0">
                <a:solidFill>
                  <a:srgbClr val="AAD4D4"/>
                </a:solidFill>
              </a:rPr>
              <a:t>Equivalent quality starts at £2,000+. Come back — we will beat any genuine quote.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353562" y="2944368"/>
            <a:ext cx="2859786" cy="42062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353562" y="2944368"/>
            <a:ext cx="22860" cy="420624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408426" y="2980944"/>
            <a:ext cx="2786634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</a:rPr>
              <a:t>"We had a bad experience before."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08426" y="3136392"/>
            <a:ext cx="278663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" b="0" i="0">
                <a:solidFill>
                  <a:srgbClr val="AAD4D4"/>
                </a:solidFill>
              </a:rPr>
              <a:t>"Tell me exactly what happened." Vela Sync was built to close that gap.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353562" y="3392424"/>
            <a:ext cx="2859786" cy="42062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353562" y="3392424"/>
            <a:ext cx="22860" cy="420624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08426" y="3429000"/>
            <a:ext cx="2786634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</a:rPr>
              <a:t>"Not sure about the monthly fee."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408426" y="3584448"/>
            <a:ext cx="278663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" b="0" i="0">
                <a:solidFill>
                  <a:srgbClr val="AAD4D4"/>
                </a:solidFill>
              </a:rPr>
              <a:t>£50/mo is insurance on a £450 asset. Easiest decision in the room.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353562" y="3840480"/>
            <a:ext cx="2859786" cy="16459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353562" y="3840480"/>
            <a:ext cx="22860" cy="16459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353562" y="3840480"/>
            <a:ext cx="285978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  POWER PHRASES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53562" y="4032504"/>
            <a:ext cx="2859786" cy="246888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353562" y="4032504"/>
            <a:ext cx="22860" cy="246888"/>
          </a:xfrm>
          <a:prstGeom prst="rect">
            <a:avLst/>
          </a:prstGeom>
          <a:solidFill>
            <a:srgbClr val="1F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408426" y="4087368"/>
            <a:ext cx="277749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" b="0" i="1">
                <a:solidFill>
                  <a:srgbClr val="EEF7F7"/>
                </a:solidFill>
              </a:rPr>
              <a:t>"The question isn't whether — it's when."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353562" y="4302252"/>
            <a:ext cx="2859786" cy="246888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353562" y="4302252"/>
            <a:ext cx="22860" cy="246888"/>
          </a:xfrm>
          <a:prstGeom prst="rect">
            <a:avLst/>
          </a:prstGeom>
          <a:solidFill>
            <a:srgbClr val="1F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08426" y="4357116"/>
            <a:ext cx="277749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" b="0" i="1">
                <a:solidFill>
                  <a:srgbClr val="EEF7F7"/>
                </a:solidFill>
              </a:rPr>
              <a:t>"This isn't a cost. It's a decision."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353562" y="4572000"/>
            <a:ext cx="2859786" cy="246888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353562" y="4572000"/>
            <a:ext cx="22860" cy="246888"/>
          </a:xfrm>
          <a:prstGeom prst="rect">
            <a:avLst/>
          </a:prstGeom>
          <a:solidFill>
            <a:srgbClr val="1F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408426" y="4626864"/>
            <a:ext cx="277749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" b="0" i="1">
                <a:solidFill>
                  <a:srgbClr val="EEF7F7"/>
                </a:solidFill>
              </a:rPr>
              <a:t>"Every day you wait, your competitor doesn't."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353562" y="4841748"/>
            <a:ext cx="2859786" cy="246888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3353562" y="4841748"/>
            <a:ext cx="22860" cy="246888"/>
          </a:xfrm>
          <a:prstGeom prst="rect">
            <a:avLst/>
          </a:prstGeom>
          <a:solidFill>
            <a:srgbClr val="1F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408426" y="4896612"/>
            <a:ext cx="277749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" b="0" i="1">
                <a:solidFill>
                  <a:srgbClr val="EEF7F7"/>
                </a:solidFill>
              </a:rPr>
              <a:t>"Based on everything you've told me — this is the obvious next step."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95644" y="960120"/>
            <a:ext cx="2859786" cy="16459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295644" y="960120"/>
            <a:ext cx="22860" cy="16459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295644" y="960120"/>
            <a:ext cx="285978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  CLOSE TECHNIQUES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95644" y="1152144"/>
            <a:ext cx="2859786" cy="54864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295644" y="1152144"/>
            <a:ext cx="2859786" cy="16459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59652" y="1188720"/>
            <a:ext cx="276834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Assumptive Close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359652" y="1335024"/>
            <a:ext cx="276834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" b="0" i="1">
                <a:solidFill>
                  <a:srgbClr val="EEF7F7"/>
                </a:solidFill>
              </a:rPr>
              <a:t>"What's the domain name you're currently using?"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59652" y="1536192"/>
            <a:ext cx="276834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6A9999"/>
                </a:solidFill>
              </a:rPr>
              <a:t>Assumes the sale — moves to logistics.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95644" y="1728216"/>
            <a:ext cx="2859786" cy="54864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295644" y="1728216"/>
            <a:ext cx="2859786" cy="16459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359652" y="1764792"/>
            <a:ext cx="276834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ROI Frame Close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59652" y="1911096"/>
            <a:ext cx="276834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" b="0" i="1">
                <a:solidFill>
                  <a:srgbClr val="EEF7F7"/>
                </a:solidFill>
              </a:rPr>
              <a:t>"If the site brings in one extra customer — what's that worth to you?"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359652" y="2112264"/>
            <a:ext cx="276834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6A9999"/>
                </a:solidFill>
              </a:rPr>
              <a:t>Forces them to calculate the return in their own head.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295644" y="2304288"/>
            <a:ext cx="2859786" cy="54864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295644" y="2304288"/>
            <a:ext cx="2859786" cy="16459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359652" y="2340864"/>
            <a:ext cx="276834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Urgency Close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359652" y="2487168"/>
            <a:ext cx="276834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" b="0" i="1">
                <a:solidFill>
                  <a:srgbClr val="EEF7F7"/>
                </a:solidFill>
              </a:rPr>
              <a:t>"Someone is Googling you right now. What's stopping us doing this today?" → silence.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359652" y="2688336"/>
            <a:ext cx="276834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6A9999"/>
                </a:solidFill>
              </a:rPr>
              <a:t>Real urgency. Then stop talking.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95644" y="2880360"/>
            <a:ext cx="2859786" cy="54864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295644" y="2880360"/>
            <a:ext cx="2859786" cy="16459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359652" y="2916936"/>
            <a:ext cx="276834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Option Close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59652" y="3063240"/>
            <a:ext cx="276834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" b="0" i="1">
                <a:solidFill>
                  <a:srgbClr val="EEF7F7"/>
                </a:solidFill>
              </a:rPr>
              <a:t>"The £450 standard or the £650 SEO &amp; Growth — which feels right?"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359652" y="3264408"/>
            <a:ext cx="276834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6A9999"/>
                </a:solidFill>
              </a:rPr>
              <a:t>Both options are a yes. Choice replaces hesitation.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295644" y="3456432"/>
            <a:ext cx="2859786" cy="54864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295644" y="3456432"/>
            <a:ext cx="2859786" cy="16459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359652" y="3493008"/>
            <a:ext cx="276834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Instalment Close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359652" y="3639312"/>
            <a:ext cx="276834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" b="0" i="1">
                <a:solidFill>
                  <a:srgbClr val="EEF7F7"/>
                </a:solidFill>
              </a:rPr>
              <a:t>"Get it live tomorrow, pay on a schedule that suits you."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359652" y="3840480"/>
            <a:ext cx="276834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" b="0" i="0">
                <a:solidFill>
                  <a:srgbClr val="6A9999"/>
                </a:solidFill>
              </a:rPr>
              <a:t>Removes the financial barrier without discounting.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295644" y="4032504"/>
            <a:ext cx="2859786" cy="16459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6295644" y="4032504"/>
            <a:ext cx="22860" cy="16459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295644" y="4032504"/>
            <a:ext cx="285978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  ACKNOWLEDGE · REFRAME · ADVANCE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295644" y="4224528"/>
            <a:ext cx="2859786" cy="45720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295644" y="4224528"/>
            <a:ext cx="27432" cy="45720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59652" y="4279392"/>
            <a:ext cx="275920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Acknowledge:  "I completely understand that."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359652" y="4411979"/>
            <a:ext cx="275920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Reframe:  "What you're really asking is…"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359652" y="4544568"/>
            <a:ext cx="275920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" b="0" i="0">
                <a:solidFill>
                  <a:srgbClr val="AAD4D4"/>
                </a:solidFill>
              </a:rPr>
              <a:t>Advance:  Ask the close question. Then silence.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237726" y="960120"/>
            <a:ext cx="2859786" cy="16459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9237726" y="960120"/>
            <a:ext cx="22860" cy="16459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237726" y="960120"/>
            <a:ext cx="285978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  PRICING — KNOW THESE COLD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237726" y="1152144"/>
            <a:ext cx="2859786" cy="237744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9237726" y="1152144"/>
            <a:ext cx="2859786" cy="2286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310878" y="1216152"/>
            <a:ext cx="2082545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STANDARD PACKAGE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310878" y="1362456"/>
            <a:ext cx="271348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£450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9310878" y="1645920"/>
            <a:ext cx="365760" cy="146304"/>
          </a:xfrm>
          <a:prstGeom prst="rect">
            <a:avLst/>
          </a:prstGeom>
          <a:solidFill>
            <a:srgbClr val="0A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9329165" y="1655064"/>
            <a:ext cx="329184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50" b="1" i="0">
                <a:solidFill>
                  <a:srgbClr val="3AAEAE"/>
                </a:solidFill>
              </a:rPr>
              <a:t>$575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9713213" y="1645920"/>
            <a:ext cx="365760" cy="146304"/>
          </a:xfrm>
          <a:prstGeom prst="rect">
            <a:avLst/>
          </a:prstGeom>
          <a:solidFill>
            <a:srgbClr val="0A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731501" y="1655064"/>
            <a:ext cx="329184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50" b="1" i="0">
                <a:solidFill>
                  <a:srgbClr val="3AAEAE"/>
                </a:solidFill>
              </a:rPr>
              <a:t>€525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310878" y="1810512"/>
            <a:ext cx="2713482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" b="0" i="0">
                <a:solidFill>
                  <a:srgbClr val="AAD4D4"/>
                </a:solidFill>
              </a:rPr>
              <a:t>then £50/mo — site maintenance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310878" y="1938528"/>
            <a:ext cx="2713482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50" b="0" i="0">
                <a:solidFill>
                  <a:srgbClr val="6A9999"/>
                </a:solidFill>
              </a:rPr>
              <a:t>$65 · €58  ·  avg £150+/mo  ·  Cancel anytime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310878" y="2084832"/>
            <a:ext cx="271348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✓  Mobile-responsive branded website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310878" y="2226564"/>
            <a:ext cx="271348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✓  Domain activation or transfer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310878" y="2368296"/>
            <a:ext cx="271348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✓  SSL, on-page SEO &amp; performance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10878" y="2510028"/>
            <a:ext cx="271348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✓  Client approves before launch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310878" y="2651760"/>
            <a:ext cx="271348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✓  Full credentials on the day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310878" y="2793492"/>
            <a:ext cx="271348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✓  Live within 24 hours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310878" y="2935224"/>
            <a:ext cx="271348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✓  Instalments available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237726" y="3575304"/>
            <a:ext cx="2859786" cy="24231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9237726" y="3575304"/>
            <a:ext cx="2859786" cy="228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1411711" y="3621024"/>
            <a:ext cx="658368" cy="1371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1429999" y="3630168"/>
            <a:ext cx="640080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50" b="1" i="0">
                <a:solidFill>
                  <a:srgbClr val="FFFFFF"/>
                </a:solidFill>
              </a:rPr>
              <a:t>BEST VALUE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10878" y="3639312"/>
            <a:ext cx="2082545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50" b="1" i="0">
                <a:solidFill>
                  <a:srgbClr val="3AAEAE"/>
                </a:solidFill>
              </a:rPr>
              <a:t>SEO &amp; GROWTH PACKAGE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310878" y="3785616"/>
            <a:ext cx="271348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£650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9310878" y="4069080"/>
            <a:ext cx="365760" cy="146304"/>
          </a:xfrm>
          <a:prstGeom prst="rect">
            <a:avLst/>
          </a:prstGeom>
          <a:solidFill>
            <a:srgbClr val="0A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329165" y="4078224"/>
            <a:ext cx="329184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50" b="1" i="0">
                <a:solidFill>
                  <a:srgbClr val="3AAEAE"/>
                </a:solidFill>
              </a:rPr>
              <a:t>$825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9713213" y="4069080"/>
            <a:ext cx="365760" cy="146304"/>
          </a:xfrm>
          <a:prstGeom prst="rect">
            <a:avLst/>
          </a:prstGeom>
          <a:solidFill>
            <a:srgbClr val="0A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9731501" y="4078224"/>
            <a:ext cx="329184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50" b="1" i="0">
                <a:solidFill>
                  <a:srgbClr val="3AAEAE"/>
                </a:solidFill>
              </a:rPr>
              <a:t>€760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9310878" y="4233672"/>
            <a:ext cx="2713482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" b="0" i="0">
                <a:solidFill>
                  <a:srgbClr val="AAD4D4"/>
                </a:solidFill>
              </a:rPr>
              <a:t>then £100/mo — maintenance + SEO + traffic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10878" y="4361688"/>
            <a:ext cx="2713482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50" b="0" i="0">
                <a:solidFill>
                  <a:srgbClr val="6A9999"/>
                </a:solidFill>
              </a:rPr>
              <a:t>$130 · €117  ·  avg £300+/mo  ·  No contract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9310878" y="4507992"/>
            <a:ext cx="271348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✓  Everything in Standard Package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310878" y="4649724"/>
            <a:ext cx="271348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✓  Marketing team briefed at launch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310878" y="4791455"/>
            <a:ext cx="271348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✓  Live traffic strategy from day one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310878" y="4933188"/>
            <a:ext cx="271348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✓  ML-backed digital strategy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310878" y="5074920"/>
            <a:ext cx="271348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✓  SEO foundations for indexing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310878" y="5216652"/>
            <a:ext cx="271348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✓  Save up to £1,550 vs agency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10878" y="5358383"/>
            <a:ext cx="271348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" b="0" i="0">
                <a:solidFill>
                  <a:srgbClr val="AAD4D4"/>
                </a:solidFill>
              </a:rPr>
              <a:t>✓  Instalments available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0" y="6638544"/>
            <a:ext cx="12188952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0" y="6675120"/>
            <a:ext cx="1218895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 i="0">
                <a:solidFill>
                  <a:srgbClr val="2B8E8E"/>
                </a:solidFill>
              </a:rPr>
              <a:t>INTERNAL OPERATIONS  ·  CONFIDENTIAL  ·  NOT FOR DISTRIBUTION  ·  © 2026 VELA SYNC LTD  ·  CO. NO. 17051204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