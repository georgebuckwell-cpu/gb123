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48640"/>
            <a:ext cx="36576" cy="100584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81160" y="2011680"/>
            <a:ext cx="36576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0" y="3474720"/>
            <a:ext cx="36576" cy="8229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21240" y="5120640"/>
            <a:ext cx="36576" cy="64008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91440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37744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384048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5303520"/>
            <a:ext cx="320040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6675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38328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435608"/>
            <a:ext cx="3246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INTERNAL OPERATIONS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10512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EF7F7"/>
                </a:solidFill>
              </a:rPr>
              <a:t>The 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50592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3AAEAE"/>
                </a:solidFill>
              </a:rPr>
              <a:t>Sales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9ABFBF"/>
                </a:solidFill>
              </a:rPr>
              <a:t>8 stages · zero ambiguity · one system to close every room.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3035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Entry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To go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133087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AAEAE"/>
                </a:solidFill>
              </a:rPr>
              <a:t>77%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45902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SMEs no web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175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B8E8E"/>
                </a:solidFill>
              </a:rPr>
              <a:t>01 → 02 → 03 → 04 → 05 → 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456432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112" y="351129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EF7F7"/>
                </a:solidFill>
              </a:rPr>
              <a:t>01  Onboarding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886200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3941063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02  Pre-Meeting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315968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54112" y="4370831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03  Discovery Call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4745736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54112" y="4800599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04  Reveal &amp; Pitch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5175504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54112" y="523036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05  Objection &amp; Close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5605271"/>
            <a:ext cx="4114800" cy="347472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566013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06  Post-Close &amp;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FULL PIPELINE ·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8-Stage Sales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Advisor
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FOUNDATION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078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427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9948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69948" y="1627632"/>
            <a:ext cx="1280160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6994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994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994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Weekly
Cadence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994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RHYTHM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9251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274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6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28416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Pre-Meeting
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71212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6884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86884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86884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6884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6884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Discovery
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6884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QUALIFY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188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9680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45352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45352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Reveal
&amp; Pitch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PRESENT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4656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8148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3819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03819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03819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819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3819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Objection
&amp; Close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3819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CONVERT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3124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46616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62288" y="1627632"/>
            <a:ext cx="1280160" cy="1691640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62288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62288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62288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2288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Pricing
Structure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62288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SELL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51592" y="2466136"/>
            <a:ext cx="141732" cy="1463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05084" y="2336292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B8E8E"/>
                </a:solidFill>
              </a:rPr>
              <a:t>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20755" y="1627632"/>
            <a:ext cx="1280160" cy="16916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20755" y="1627632"/>
            <a:ext cx="12801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20755" y="170078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20755" y="204825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EF7F7"/>
                </a:solidFill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20755" y="2377440"/>
            <a:ext cx="1280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EF7F7"/>
                </a:solidFill>
              </a:rPr>
              <a:t>Post-Close
&amp;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20755" y="3054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2B8E8E"/>
                </a:solidFill>
              </a:rPr>
              <a:t>COMPLETE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339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339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Calls / week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3577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3577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Closes / week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20815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20815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From close to live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68053" y="594360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68053" y="64008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Entry · no contract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01 ·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Advisor 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Know the product. Know the tools. Know the numbers — before you speak to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Product Mastery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Every package &amp; price cold
£450 / £650 setup  ·  £50 / £100 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Tools &amp; Assets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Lead list · Demo site · Scripts
Objection guides · CRM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9015" y="1664208"/>
            <a:ext cx="3749039" cy="137160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9015" y="166420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7647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5" y="1792224"/>
            <a:ext cx="2788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Targets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2212848"/>
            <a:ext cx="34198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500 outbound calls / week
5 closed sales / week minimum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182112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THE SIX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You are the expert. Act like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Confidence is not optional.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0248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0248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8264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Silence is a weapon.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After every powerful question — stop talking.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3429000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3429000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2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0808" y="3538728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Diagnose before you prescribe.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50808" y="3886200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Ask before you pitch. Always.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9496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Speak in outcomes, not features.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They care about customers, not animations.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0248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0248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98264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Frame everything as ROI.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Every price is an investment.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9016" y="4590288"/>
            <a:ext cx="3749039" cy="10972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29016" y="4590288"/>
            <a:ext cx="3749039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57032" y="47548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0808" y="4700016"/>
            <a:ext cx="2999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Show, don't tell.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0808" y="5047488"/>
            <a:ext cx="29992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Open the draft site silently. Let them sell themselves.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TEAM CADENCE · WEEKLY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Schedule &amp; KPIs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Consistent rhythm drives consistent performance.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45920"/>
            <a:ext cx="1444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325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MON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325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029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11:00 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029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Diary Alignment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325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029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029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KPI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1388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1388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4233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TUE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34233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94937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94937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1296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11296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4141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WED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141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4845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4845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1204" y="1645920"/>
            <a:ext cx="1444752" cy="2999232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1204" y="1645920"/>
            <a:ext cx="1444752" cy="365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4048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AAEAE"/>
                </a:solidFill>
              </a:rPr>
              <a:t>THU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4048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753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4753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Fwd Planning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34048" y="3255263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4753" y="3346703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4753" y="3602735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11111" y="1645920"/>
            <a:ext cx="1444752" cy="2999232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11111" y="1645920"/>
            <a:ext cx="1444752" cy="3657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83956" y="1737360"/>
            <a:ext cx="12990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A8080"/>
                </a:solidFill>
              </a:rPr>
              <a:t>FRI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3956" y="2084831"/>
            <a:ext cx="1299062" cy="105156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4661" y="2176272"/>
            <a:ext cx="117765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5:00 PM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4661" y="2432303"/>
            <a:ext cx="11776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EF7F7"/>
                </a:solidFill>
              </a:rPr>
              <a:t>Daily Touch Point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16002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KEY KPIs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19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75319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270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5075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Outbound Calls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5075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500+ / week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31551" y="1901952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31551" y="1901952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13502" y="2020824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41306" y="1993392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Conversion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41306" y="228600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5+ closes / week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75319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19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7270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5075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Revenue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5075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Weekly &amp; monthly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31551" y="2743200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31551" y="2743200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13502" y="2862072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41306" y="2834640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Follow-Up Rate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41306" y="3127248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100% warm leads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19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75319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57270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🏷️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5075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Avg Deal Value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5075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£450–£650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31551" y="3584448"/>
            <a:ext cx="1737360" cy="74980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31551" y="3584448"/>
            <a:ext cx="173736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3502" y="3703320"/>
            <a:ext cx="2622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F7F7"/>
                </a:solidFill>
              </a:rPr>
              <a:t>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41306" y="3675887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EF7F7"/>
                </a:solidFill>
              </a:rPr>
              <a:t>Retention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41306" y="3968496"/>
            <a:ext cx="124565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AAEAE"/>
                </a:solidFill>
              </a:rPr>
              <a:t>Maximise monthly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4773168"/>
            <a:ext cx="12188952" cy="7315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48920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RECURRING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4320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0040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24/7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MD Direct Line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72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🎯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1792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2W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Bi-Weekly 1:1s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48463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F7F7"/>
                </a:solidFill>
              </a:rPr>
              <a:t>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35440" y="48646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AAEAE"/>
                </a:solidFill>
              </a:rPr>
              <a:t>1Y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35440" y="5166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Personal Dev Plan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5833872"/>
            <a:ext cx="12188952" cy="102412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6339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9 – 11 AM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6339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73577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11 – 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473577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Admin · 1 hr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0815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12 – 2 PM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20815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68053" y="6089904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AAEAE"/>
                </a:solidFill>
              </a:rPr>
              <a:t>4 – 6 PM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68053" y="645566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A8080"/>
                </a:solidFill>
              </a:rPr>
              <a:t>Call Sprint 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0" y="5870448"/>
            <a:ext cx="12188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AAEAE"/>
                </a:solidFill>
              </a:rPr>
              <a:t>DAILY CALL SPRINTS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02 ·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Pre-Meeting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10 minutes before every meeting. Walk in knowing their problem before they've said a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090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Search the business. Do they appear at all? What comes up first — them or a competitor?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554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Check Their 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Is it mobile-friendly? Fast? Does it actually convert — or is it a liability?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Google Maps Rating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Low score = reputation problem. No reviews = visibility problem. You solve both.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15400" y="1627632"/>
            <a:ext cx="2724912" cy="23774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15400" y="1627632"/>
            <a:ext cx="272491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64824" y="1719072"/>
            <a:ext cx="347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3AAEAE"/>
                </a:solidFill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1719072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EF7F7"/>
                </a:solidFill>
              </a:rPr>
              <a:t>⚔️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267712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EF7F7"/>
                </a:solidFill>
              </a:rPr>
              <a:t>Competitor Audit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2560" y="2633472"/>
            <a:ext cx="2450592" cy="7315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0" y="2724912"/>
            <a:ext cx="245059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Find their top 3 local competitors. Check their online presence. You'll use this to create urgency.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33087"/>
            <a:ext cx="11365992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133087"/>
            <a:ext cx="45720" cy="10058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062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OPENING 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4165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FBF"/>
                </a:solidFill>
              </a:rPr>
              <a:t>"I had a look at your business before coming in today. I noticed a few things I wanted to talk about — but first, tell me how business has been. Are you getting as many new customers as you want?"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66944"/>
            <a:ext cx="11365992" cy="676656"/>
          </a:xfrm>
          <a:prstGeom prst="rect">
            <a:avLst/>
          </a:prstGeom>
          <a:solidFill>
            <a:srgbClr val="22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266944"/>
            <a:ext cx="45720" cy="6766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41324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7171"/>
                </a:solidFill>
              </a:rPr>
              <a:t>⛔  Never open with the product. Open with their world — not yours. The product comes third.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03 · QUALIFICATION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6 Discovery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Ask in sequence · Listen deeply · Take notes visibly. Their answers give you everything to close.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CURRENT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"When a potential customer Googles you right now — what do they find?"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confront their digital reality.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66420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66420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17556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4650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AWARENESS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197510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"How are most of your customers finding you at the moment?"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21284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Exposes over-reliance on referrals. One slow season away from a problem.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looked at what your top three competitors are doing online?"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Creates competitive anxiety. You already know the answer — make them say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48716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48716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25786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56946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REVENUE IMPACT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279806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"76% research online before contact — what does that mean for customers you're missing?"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303580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Forces them to calculate lost revenue in their own head.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310128"/>
            <a:ext cx="5486400" cy="73152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310128"/>
            <a:ext cx="548640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B8E8E"/>
                </a:solidFill>
              </a:rPr>
              <a:t>PREVIOUS EXPERIENCE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"Have you ever tried to get a website built before? What happened?"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have a war story. You are the antidote before you've mentioned the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10128"/>
            <a:ext cx="5486400" cy="731520"/>
          </a:xfrm>
          <a:prstGeom prst="rect">
            <a:avLst/>
          </a:prstGeom>
          <a:solidFill>
            <a:srgbClr val="122218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3310128"/>
            <a:ext cx="5486400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37376" y="340156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392424"/>
            <a:ext cx="4892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22C55E"/>
                </a:solidFill>
              </a:rPr>
              <a:t>FUTURE 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621024"/>
            <a:ext cx="5230368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EF7F7"/>
                </a:solidFill>
              </a:rPr>
              <a:t>"If your digital presence was exactly where you wanted it — what would change?"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3858768"/>
            <a:ext cx="52303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Most powerful question. Gets them to paint their own success picture out loud.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79008"/>
            <a:ext cx="11365992" cy="822960"/>
          </a:xfrm>
          <a:prstGeom prst="rect">
            <a:avLst/>
          </a:prstGeom>
          <a:solidFill>
            <a:srgbClr val="18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779008"/>
            <a:ext cx="4572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591616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D060"/>
                </a:solidFill>
              </a:rPr>
              <a:t>💡  After all six questions: "So if I've understood you correctly..." — feed their answers back verbatim. Validates concerns, amplifies the pain, sets up the pitch. Never skip this.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04 ·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The Reveal &amp;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Bridge their pain · Show the site silently · Anchor high, land low. The emotional sale is made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Bridge the Pain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Summarise their answers in one clear statement.
Make them feel heard before you reveal anything.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5384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👁️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The Silent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Open the draft site. Say nothing. Scroll slowly.
When they lean in — that's your pivot.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664208"/>
            <a:ext cx="3730752" cy="178308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9288" y="1664208"/>
            <a:ext cx="3730752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1773936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EF7F7"/>
                </a:solidFill>
              </a:rPr>
              <a:t>⚖️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1801368"/>
            <a:ext cx="2560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267712"/>
            <a:ext cx="34015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EF7F7"/>
                </a:solidFill>
              </a:rPr>
              <a:t>Anchor High, Land 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633472"/>
            <a:ext cx="340156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Never open with £450. Anchor to £2,000+.
The contrast does the selling for you.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66160"/>
            <a:ext cx="11365992" cy="749808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566160"/>
            <a:ext cx="45720" cy="74980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6393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PRICE REVEAL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EF7F7"/>
                </a:solidFill>
              </a:rPr>
              <a:t>"A website of this quality from a traditional agency — you're looking at £2,000 minimum. We charge £450. And you're live within 24 hours. Not a week. Not a month. Tomorrow."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2C55E"/>
                </a:solidFill>
              </a:rPr>
              <a:t>BUYING SIGNALS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00016"/>
            <a:ext cx="5623560" cy="20116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700016"/>
            <a:ext cx="5623560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"That looks really good"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72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Leans toward the screen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Asks logistics / timeline 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"Can you do it in our colours?"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✅  Looks at a colleague for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3912" y="44348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</a:rPr>
              <a:t>PROCEED WITH CAUTION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3912" y="4700016"/>
            <a:ext cx="5623560" cy="20116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4700016"/>
            <a:ext cx="56235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8504" y="479145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Arms crossed, leaning back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515721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 need to talk to our accountant"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552297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"We'll think about it"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88873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Checking their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6254496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BD582"/>
                </a:solidFill>
              </a:rPr>
              <a:t>⚠️  Repeated glances at the door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05 · CONVERSION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Objection Handling &amp; The 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Every objection is a question in disguise. Acknowledge · Reframe · Advance.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COMMON OBJECTIONS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836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836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836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385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already have a website."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 it ranking? Is it bringing in enquiries — or a digital brochure?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1518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61518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261518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7004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"£450 seems too cheap."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You've just seen it. That IS the quality. Enterprise engineers, zero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4670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34670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34670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need to think about it."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57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What specifically? Name the real objection. Then stop talking.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7822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07822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07822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3308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want a few quotes first."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89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Equivalent quality starts at £2,000+. Come back — we'll beat any quote.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0974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0974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80974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6460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"We had a bad experience before."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120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"Tell me what happened." Vela Sync was built because of that gap.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541264"/>
            <a:ext cx="5577840" cy="65836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541264"/>
            <a:ext cx="55778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541264"/>
            <a:ext cx="36576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9612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EEF7F7"/>
                </a:solidFill>
              </a:rPr>
              <a:t>"Not sure about the monthly."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852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£50/mo is insurance on a £450 asset. Easiest decision in the room.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1609344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CLOSE TECHNIQUES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883664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1883664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1883664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195681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Assumptive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2311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Assumes the sale. Moves to logistics.
"What's the domain name you're using?"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743200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743200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2743200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8163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Investment Frame Close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0906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Forces ROI calculation.
"If it brings one extra customer — what's that worth?"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602736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602736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02736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36758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Urgency Close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95020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Someone is searching for you RIGHT NOW.
"What's stopping us doing this today?" — then silence.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62272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62272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462272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5080" y="45354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Option Close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48097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Both options are a yes.
"£450 standard or £650 SEO — which feels right?"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5321808"/>
            <a:ext cx="5559552" cy="786384"/>
          </a:xfrm>
          <a:prstGeom prst="rect">
            <a:avLst/>
          </a:prstGeom>
          <a:solidFill>
            <a:srgbClr val="152222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321808"/>
            <a:ext cx="5559552" cy="36576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5321808"/>
            <a:ext cx="36576" cy="786384"/>
          </a:xfrm>
          <a:prstGeom prst="rect">
            <a:avLst/>
          </a:prstGeom>
          <a:solidFill>
            <a:srgbClr val="5F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55080" y="539496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Instalment Close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66928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Removes the financial barrier.
"Get it live tomorrow, pay on a schedule that suits you."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254496"/>
            <a:ext cx="12188952" cy="603504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"The question isn't whether — it's when."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3756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"This isn't a cost. It's a decision."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364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"Every day you wait, your competitor doesn't."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63367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2B8E8E"/>
                </a:solidFill>
              </a:rPr>
              <a:t>"Based on what you've told me..."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PRICING STRUCTURE · KNOW THESE COLD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What You're Selling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Two packages. Two monthly tiers. The contrast vs the market is your most powerful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5440680" cy="4892040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664208"/>
            <a:ext cx="544068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STANDARD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EEF7F7"/>
                </a:solidFill>
              </a:rPr>
              <a:t>£450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$575  ·  €525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5409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setup  ·  Live within 24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328416"/>
            <a:ext cx="507492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747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Professional, mobile-responsive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4903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Personalised to the client's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2335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Domain activation or transfer included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97679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SSL, on-page SEO &amp; performance optimised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Client reviews &amp; approves before 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4632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Full access credentials on the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5029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49824"/>
            <a:ext cx="5074920" cy="82296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24144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F7F7"/>
                </a:solidFill>
              </a:rPr>
              <a:t>£50 / $65 / €58 /month — site maintenance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97103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£150+ /mo  ·  Cancel any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16752" y="1664208"/>
            <a:ext cx="5760720" cy="489204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6752" y="1664208"/>
            <a:ext cx="5760720" cy="4572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1737360"/>
            <a:ext cx="1737360" cy="2560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175564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BEST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18288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SEO &amp; GROWTH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2084831"/>
            <a:ext cx="3474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3AAEAE"/>
                </a:solidFill>
              </a:rPr>
              <a:t>£650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9632" y="28346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AAEAE"/>
                </a:solidFill>
              </a:rPr>
              <a:t>$825  ·  €760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30540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One-off  ·  Everything in Standard, plus growth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3328416"/>
            <a:ext cx="5394960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34747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Everything in Standard Package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723436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Marketing team briefed at launch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972153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Live traffic strategy from day 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22087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Growth roadmap tailored to their business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46958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SEO foundations for immediate indexing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47183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ML-backed digital strategy applied day 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4967020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Save up to £1,550 vs average agency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5215737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✓  Instalments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5449824"/>
            <a:ext cx="5394960" cy="822960"/>
          </a:xfrm>
          <a:prstGeom prst="rect">
            <a:avLst/>
          </a:prstGeom>
          <a:solidFill>
            <a:srgbClr val="16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552297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THEN MONTHLY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724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AAEAE"/>
                </a:solidFill>
              </a:rPr>
              <a:t>£100 / $130 / €117 /month — maintenance + SEO + traffic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5971032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A8080"/>
                </a:solidFill>
              </a:rPr>
              <a:t>Industry avg: £300+ /mo  ·  No contract, cancel any time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56032"/>
            <a:ext cx="2560320" cy="219456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2423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3AAEAE"/>
                </a:solidFill>
              </a:rPr>
              <a:t>STAGE 06 ·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1207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7F7"/>
                </a:solidFill>
              </a:rPr>
              <a:t>Post-Close, Onboarding &amp;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ABFBF"/>
                </a:solidFill>
              </a:rPr>
              <a:t>The close is not the finish line. Protect the sale · trigger delivery · collect payment.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508760"/>
            <a:ext cx="11365992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DELIVERY PROCESS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IMMEDIATELY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Log sale in CRM · notify build team · 24-hour clock starts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SAME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30-min brief call with design team — brand, copy, domain,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7031" y="1865376"/>
            <a:ext cx="3822191" cy="932688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57031" y="1865376"/>
            <a:ext cx="3822191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1865376"/>
            <a:ext cx="420624" cy="9326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2011680"/>
            <a:ext cx="3474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AAEAE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69096" y="1920240"/>
            <a:ext cx="3182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WITHIN 24H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2157984"/>
            <a:ext cx="3182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BFBF"/>
                </a:solidFill>
              </a:rPr>
              <a:t>Build complete · client reviews · revisions · site goes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92608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PAYMENT COLLECTION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20040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9496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AT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Issue invoice immediately — package + first monthly fee.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79476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9496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Full payment before or on the day the site goes live.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4389120"/>
            <a:ext cx="36576" cy="521207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INSTALMENT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First payment at close. Schedule confirmed in writing.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73952" y="320040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3952" y="320040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3952" y="320040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325526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323697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1 LATE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7728" y="345643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Friendly reminder — confirming, not chasing.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73952" y="379476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73952" y="379476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73952" y="379476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38496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383133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405079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Direct call — warm, professional, easy path to yes.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73952" y="4389120"/>
            <a:ext cx="5806440" cy="521207"/>
          </a:xfrm>
          <a:prstGeom prst="rect">
            <a:avLst/>
          </a:prstGeom>
          <a:solidFill>
            <a:srgbClr val="0F1A1A"/>
          </a:solidFill>
          <a:ln w="9525">
            <a:solidFill>
              <a:srgbClr val="1C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73952" y="4389120"/>
            <a:ext cx="5806440" cy="36576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73952" y="4389120"/>
            <a:ext cx="36576" cy="521207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01968" y="4443983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AAEAE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7728" y="4425696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E8E"/>
                </a:solidFill>
              </a:rPr>
              <a:t>DAY 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67728" y="4645152"/>
            <a:ext cx="518464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ABFBF"/>
                </a:solidFill>
              </a:rPr>
              <a:t>Formal written notice. 48-hour final deadline.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5102352"/>
            <a:ext cx="3822191" cy="1554480"/>
          </a:xfrm>
          <a:prstGeom prst="rect">
            <a:avLst/>
          </a:prstGeom>
          <a:solidFill>
            <a:srgbClr val="081E10"/>
          </a:solidFill>
          <a:ln w="952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1480" y="5102352"/>
            <a:ext cx="3822191" cy="3657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✅  Always Do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Invoice same day as close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Confirm payment terms in writing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brief call before you leave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Log every interaction in CRM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43400" y="5102352"/>
            <a:ext cx="3822191" cy="1554480"/>
          </a:xfrm>
          <a:prstGeom prst="rect">
            <a:avLst/>
          </a:prstGeom>
          <a:solidFill>
            <a:srgbClr val="1E0808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43400" y="5102352"/>
            <a:ext cx="3822191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⛔  Never 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8056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Hand over site before payment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056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Leave without a defined next step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Accept "call me when you're ready"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8056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Agree verbal-only instalment terms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19" y="5102352"/>
            <a:ext cx="3822191" cy="1554480"/>
          </a:xfrm>
          <a:prstGeom prst="rect">
            <a:avLst/>
          </a:prstGeom>
          <a:solidFill>
            <a:srgbClr val="1E1604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275319" y="5102352"/>
            <a:ext cx="3822191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0" y="519379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⚠️  If No Close Today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0" y="554126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Lock in a specific date &amp; time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81558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draft site link that evening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12480" y="608990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Send calendar invite from the car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364224"/>
            <a:ext cx="35478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ABFBF"/>
                </a:solidFill>
              </a:rPr>
              <a:t>• Vague next steps die — specific ones live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411712" y="228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60152" y="32004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800">
                <a:solidFill>
                  <a:srgbClr val="EEF7F7"/>
                </a:solidFill>
              </a:rPr>
              <a:t>VELA SYNC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78240" y="457200"/>
            <a:ext cx="32004" cy="9144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25712" y="713232"/>
            <a:ext cx="32004" cy="107899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73184" y="969264"/>
            <a:ext cx="32004" cy="1243584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20656" y="1225296"/>
            <a:ext cx="32004" cy="1408176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68128" y="1481328"/>
            <a:ext cx="32004" cy="157276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737360"/>
            <a:ext cx="32004" cy="173736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63072" y="1993392"/>
            <a:ext cx="32004" cy="190195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210544" y="2249424"/>
            <a:ext cx="32004" cy="2066543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3716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2860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2004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1148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5029200"/>
            <a:ext cx="3474720" cy="64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6675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1920240"/>
            <a:ext cx="8229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AAEAE"/>
                </a:solidFill>
              </a:rPr>
              <a:t>The Standard: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468880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EF7F7"/>
                </a:solidFill>
              </a:rPr>
              <a:t>Signed. Invoiced. Brief call booked.
Site live in 24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ABFBF"/>
                </a:solidFill>
              </a:rPr>
              <a:t>That is what you're selling. That is exactly what you deliver.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389120"/>
            <a:ext cx="7498079" cy="7315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Stages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Calls/wk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Closes/wk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5720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074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8080"/>
                </a:solidFill>
              </a:rPr>
              <a:t>To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A8080"/>
                </a:solidFill>
              </a:rPr>
              <a:t>© 2026 Vela Sync Ltd · Co. No. 17051204 · Internal Sales Playbook — Confidential — Not for Distribution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" y="0"/>
            <a:ext cx="12134088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04672"/>
            <a:ext cx="11365992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164592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28832" y="1645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0112" y="26517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E8E"/>
                </a:solidFill>
              </a:rPr>
              <a:t>SALES ADVISOR QUICK REFERENCE  ·  PAGE 1 OF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Complete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804672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CCCC"/>
                </a:solidFill>
              </a:rPr>
              <a:t>Know every stage. Hit every beat. Close every room.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14300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14300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34416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121615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ONBOARDING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147218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Know product, tools &amp; KPIs cold before any call.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14300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14300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134416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21615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147218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10 min prep: Google, site check, maps, competitors.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01168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01168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21284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208483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DISCOVERY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34086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6 Qs in sequence. Feed answers back verbatim.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8192" y="201168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08192" y="201168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221284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8544" y="208483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REVEAL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38544" y="234086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Silent demo → anchor £2,000+ → land £450/£650.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88036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288036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8152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" y="295351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20954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Handle every objection. Pick a close technique. Silence.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880360"/>
            <a:ext cx="5577840" cy="77724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880360"/>
            <a:ext cx="457200" cy="77724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3081528"/>
            <a:ext cx="457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38544" y="2953512"/>
            <a:ext cx="4983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AEAE"/>
                </a:solidFill>
              </a:rPr>
              <a:t>POST-CLOSE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209544"/>
            <a:ext cx="4983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E5E5"/>
                </a:solidFill>
              </a:rPr>
              <a:t>Invoice → CRM → brief call → site live in 24 hours.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794759"/>
            <a:ext cx="11365992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3886199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E8E"/>
                </a:solidFill>
              </a:rPr>
              <a:t>TARGETS — NON-NEGOTIABLE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178807"/>
            <a:ext cx="2194560" cy="65836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" y="4178807"/>
            <a:ext cx="2194560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15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500+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4544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CCCC"/>
                </a:solidFill>
              </a:rPr>
              <a:t>Outbound calls / week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9192" y="4178807"/>
            <a:ext cx="2194560" cy="65836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79192" y="4178807"/>
            <a:ext cx="2194560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79192" y="4215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5+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9192" y="4544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CCCC"/>
                </a:solidFill>
              </a:rPr>
              <a:t>Closes / week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46904" y="4178807"/>
            <a:ext cx="2194560" cy="65836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46904" y="4178807"/>
            <a:ext cx="2194560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46904" y="4215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£450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46904" y="4544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CCCC"/>
                </a:solidFill>
              </a:rPr>
              <a:t>Min deal 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14616" y="4178807"/>
            <a:ext cx="2194560" cy="65836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14616" y="4178807"/>
            <a:ext cx="2194560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14616" y="4215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24h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14616" y="4544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CCCC"/>
                </a:solidFill>
              </a:rPr>
              <a:t>Site live after close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82328" y="4178807"/>
            <a:ext cx="2194560" cy="65836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82328" y="4178807"/>
            <a:ext cx="2194560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82328" y="4215383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AAEAE"/>
                </a:solidFill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82328" y="4544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ACCCC"/>
                </a:solidFill>
              </a:rPr>
              <a:t>Warm lead follow-up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656832"/>
            <a:ext cx="113659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INTERNAL OPERATIONS  ·  CONFIDENTIAL  ·  NOT FOR DISTRIBUTION  ·  © 2026 VELA SYNC LTD  ·  CO. 17051204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" y="0"/>
            <a:ext cx="12134088" cy="1005840"/>
          </a:xfrm>
          <a:prstGeom prst="rect">
            <a:avLst/>
          </a:prstGeom>
          <a:solidFill>
            <a:srgbClr val="0F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04672"/>
            <a:ext cx="11365992" cy="27432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28832" y="164592"/>
            <a:ext cx="457200" cy="45720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28832" y="1645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0112" y="26517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EF7F7"/>
                </a:solidFill>
              </a:rPr>
              <a:t>VELA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E8E"/>
                </a:solidFill>
              </a:rPr>
              <a:t>SALES ADVISOR QUICK REFERENCE  ·  PAGE 2 OF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7472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Scripts, Objections &amp; Close Toolkit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804672"/>
            <a:ext cx="8229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ACCCC"/>
                </a:solidFill>
              </a:rPr>
              <a:t>Every word matters. Every silence is a weapon. Know this cold.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051560"/>
            <a:ext cx="5303520" cy="2743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051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  6 DISCOVERY QUESTIONS — IN ORDER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362456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362456"/>
            <a:ext cx="274320" cy="4754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47218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399032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CURRENT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81912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"When a potential customer Googles you — what do they find?"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874519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1874519"/>
            <a:ext cx="274320" cy="4754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98424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11095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AWARENESS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093976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"How are most of your customers finding you at the moment?"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386584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386584"/>
            <a:ext cx="274320" cy="4754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496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2423160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COMPETITION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606040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"Have you looked at what your top 3 competitors do online?"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898648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2898648"/>
            <a:ext cx="274320" cy="4754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0083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2935224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REVENUE IMPACT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118104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"76% research online first — what does that mean for you?"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410712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410712"/>
            <a:ext cx="274320" cy="475488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447288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PAST EXP.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630168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"Have you tried to get a website before? What happened?"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922776"/>
            <a:ext cx="5303520" cy="47548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922776"/>
            <a:ext cx="274320" cy="475488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40325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3959352"/>
            <a:ext cx="4937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AAEAE"/>
                </a:solidFill>
              </a:rPr>
              <a:t>VISION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4142232"/>
            <a:ext cx="493775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1">
                <a:solidFill>
                  <a:srgbClr val="CCE5E5"/>
                </a:solidFill>
              </a:rPr>
              <a:t>"If your digital presence was perfect — what would change?"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480560"/>
            <a:ext cx="5303520" cy="384048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" y="4526280"/>
            <a:ext cx="51572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EF7F7"/>
                </a:solidFill>
              </a:rPr>
              <a:t>💡  After Q6: "So if I've understood you correctly..." — feed it back verbatim. Then pivot to the reveal.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89320" y="1051560"/>
            <a:ext cx="5788152" cy="2743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89320" y="1051560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  OBJECTIONS → RESPONSES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1362456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1362456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9048" y="1399032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"We already have a website."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9048" y="1600200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Is it ranking? Is it bringing in enquiries — or is it a liability?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1856232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1856232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9048" y="1892808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"£450 seems too cheap."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9048" y="2093976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You've just seen it. Enterprise engineers, zero agency overhead.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2350008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2350008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9048" y="2386584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"We need to think about it."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9048" y="2587752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What specifically? Name the real objection. Then stop talking.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2843784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989320" y="2843784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99048" y="2880360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"We want a few quotes."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9048" y="3081528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Equivalent quality starts at £2,000+. We'll beat any quote.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89320" y="3337560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989320" y="3337560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99048" y="3374136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"We had a bad experience before."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9048" y="3575304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"Tell me what happened." Vela Sync was built for exactly that gap.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89320" y="3831336"/>
            <a:ext cx="5788152" cy="4572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989320" y="3831336"/>
            <a:ext cx="45720" cy="457200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99048" y="3867912"/>
            <a:ext cx="5632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</a:rPr>
              <a:t>"Not sure about the monthly."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9048" y="4069080"/>
            <a:ext cx="5632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" b="0" i="0">
                <a:solidFill>
                  <a:srgbClr val="CCE5E5"/>
                </a:solidFill>
              </a:rPr>
              <a:t>£50/mo is insurance on a £450 asset. Easiest decision in the room.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89320" y="4398264"/>
            <a:ext cx="5788152" cy="27432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989320" y="4398264"/>
            <a:ext cx="5788152" cy="2743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89320" y="4453128"/>
            <a:ext cx="5788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AAEAE"/>
                </a:solidFill>
              </a:rPr>
              <a:t>  CLOSE TECHNIQUES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89320" y="4718304"/>
            <a:ext cx="2857500" cy="45720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62472" y="4754880"/>
            <a:ext cx="27477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Assumptive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62472" y="4928616"/>
            <a:ext cx="27477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CCE5E5"/>
                </a:solidFill>
              </a:rPr>
              <a:t>"What's the domain name you're using?"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19972" y="4718304"/>
            <a:ext cx="2857500" cy="45720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93124" y="4754880"/>
            <a:ext cx="27477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ROI Frame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93124" y="4928616"/>
            <a:ext cx="27477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CCE5E5"/>
                </a:solidFill>
              </a:rPr>
              <a:t>"If it brings one extra customer — what's that worth?"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989320" y="5221224"/>
            <a:ext cx="2857500" cy="45720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62472" y="5257800"/>
            <a:ext cx="27477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Urgency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62472" y="5431536"/>
            <a:ext cx="27477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CCE5E5"/>
                </a:solidFill>
              </a:rPr>
              <a:t>"Someone is Googling you RIGHT NOW. What stops us doing this today?" → silence.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19972" y="5221224"/>
            <a:ext cx="2857500" cy="457200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93124" y="5257800"/>
            <a:ext cx="27477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3AAEAE"/>
                </a:solidFill>
              </a:rPr>
              <a:t>Option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93124" y="5431536"/>
            <a:ext cx="27477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CCE5E5"/>
                </a:solidFill>
              </a:rPr>
              <a:t>"£450 standard or £650 SEO — which feels right?"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4983480"/>
            <a:ext cx="5303520" cy="274320"/>
          </a:xfrm>
          <a:prstGeom prst="rect">
            <a:avLst/>
          </a:prstGeom>
          <a:solidFill>
            <a:srgbClr val="2B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983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  PRICING — KNOW THESE COLD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294376"/>
            <a:ext cx="2606040" cy="51206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02920" y="5330952"/>
            <a:ext cx="24688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STANDARD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920" y="5495544"/>
            <a:ext cx="24688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£450 setup  ·  £50/mo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5660136"/>
            <a:ext cx="246887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AACCCC"/>
                </a:solidFill>
              </a:rPr>
              <a:t>Professional site · 24h live · SSL · On-page SEO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108960" y="5294376"/>
            <a:ext cx="2606040" cy="512064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108960" y="5294376"/>
            <a:ext cx="2606040" cy="27432"/>
          </a:xfrm>
          <a:prstGeom prst="rect">
            <a:avLst/>
          </a:prstGeom>
          <a:solidFill>
            <a:srgbClr val="3AA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200400" y="5330952"/>
            <a:ext cx="24688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AAEAE"/>
                </a:solidFill>
              </a:rPr>
              <a:t>SEO &amp; GROWTH  ★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00400" y="5495544"/>
            <a:ext cx="24688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£650 setup  ·  £100/mo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0" y="5660136"/>
            <a:ext cx="246887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AACCCC"/>
                </a:solidFill>
              </a:rPr>
              <a:t>Everything + traffic strategy + ML-backed SEO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1480" y="5879592"/>
            <a:ext cx="5303520" cy="310896"/>
          </a:xfrm>
          <a:prstGeom prst="rect">
            <a:avLst/>
          </a:prstGeom>
          <a:solidFill>
            <a:srgbClr val="15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4632" y="5925312"/>
            <a:ext cx="515721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FFFFFF"/>
                </a:solidFill>
              </a:rPr>
              <a:t>⚖️  Anchor: "A traditional agency charges £2,000+ for this. We charge £450. You're live tomorrow."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C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6656832"/>
            <a:ext cx="113659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2B8E8E"/>
                </a:solidFill>
              </a:rPr>
              <a:t>INTERNAL OPERATIONS  ·  CONFIDENTIAL  ·  NOT FOR DISTRIBUTION  ·  © 2026 VELA SYNC LTD  ·  CO. 17051204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