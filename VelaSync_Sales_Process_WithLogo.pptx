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548640"/>
            <a:ext cx="36576" cy="100584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2011680"/>
            <a:ext cx="36576" cy="45720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3474720"/>
            <a:ext cx="36576" cy="82296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21240" y="5120640"/>
            <a:ext cx="36576" cy="64008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91440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37744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84048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530352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667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VELA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338328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35608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INTERNAL OPERATIONS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10512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EF7F7"/>
                </a:solidFill>
              </a:rPr>
              <a:t>The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50592"/>
            <a:ext cx="6400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AAEAE"/>
                </a:solidFill>
              </a:rPr>
              <a:t>Sales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ABFBF"/>
                </a:solidFill>
              </a:rPr>
              <a:t>8 stages · zero ambiguity · one system to close every room.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30352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£450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Entry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To go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77%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SMEs no web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175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B8E8E"/>
                </a:solidFill>
              </a:rPr>
              <a:t>01 → 02 → 03 → 04 → 05 → 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456432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35112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7F7"/>
                </a:solidFill>
              </a:rPr>
              <a:t>01  Onboarding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886200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941063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02  Pre-Meeting Research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315968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4370831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03  Discovery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4745736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480059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04  Reveal &amp; Pitch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175504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54112" y="52303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05  Objection &amp; Close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5605271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54112" y="5660135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06  Post-Close &amp; Payment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FULL PIPELINE ·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The 8-Stage Sales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Advisor
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FOUNDATION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0784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4276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69948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9948" y="1627632"/>
            <a:ext cx="1280160" cy="365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9948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9948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9948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Weekly
Cadence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9948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RHYTHM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9251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2744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28416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Pre-Meeting
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6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PREP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1212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6884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86884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6884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6884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6884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Discovery
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6884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QUALIFY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76188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9680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👁️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Reveal
&amp; Pitch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PRESENT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34656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8148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03819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03819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03819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3819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3819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Objection
&amp; Close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3819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CONVERT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93124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6616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2288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62288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2288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2288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Pricing
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62288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SELL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51592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5084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20755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20755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20755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20755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20755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Post-Close
&amp; Payment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20755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COMPLETE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6339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500+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6339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Calls / week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3577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5+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3577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Closes / week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20815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0815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From close to live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68053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£450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68053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Entry · no contract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01 ·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Advisor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Know the product. Know the tools. Know the numbers — before you speak to anyone.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Product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Every package &amp; price cold
£450 / £650 setup  ·  £50 / £100 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Tools &amp;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Lead list · Demo site · Scripts
Objection guides · CRM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9015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5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5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Targets &amp;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500 outbound calls / week
5 closed sales / week minimum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18211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THE SIX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You are the expert. Act like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Confidence is not optional.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Silence is a weapon.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After every powerful question — stop talking.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9016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2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0808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Diagnose before you prescribe.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Ask before you pitch. Always.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Speak in outcomes, not features.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They care about customers, not animations.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0248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0248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8264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Frame everything as ROI.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Every price is an investment.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9016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9016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2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0808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Show, don't tell.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50808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Open the draft site silently. Let them sell themselves.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TEAM CADENCE · WEEKLY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Schedule &amp;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Consistent rhythm drives consistent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1444752" cy="2999232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45920"/>
            <a:ext cx="1444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325" y="1737360"/>
            <a:ext cx="12990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AEAE"/>
                </a:solidFill>
              </a:rPr>
              <a:t>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325" y="2084831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029" y="2176272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11:00 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029" y="2432303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Diary Alignment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325" y="3255263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029" y="3346703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029" y="3602735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KPI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1388" y="1645920"/>
            <a:ext cx="144475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1388" y="1645920"/>
            <a:ext cx="144475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4233" y="1737360"/>
            <a:ext cx="12990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TUE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34233" y="2084831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4937" y="2176272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4937" y="2432303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1645920"/>
            <a:ext cx="144475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1296" y="1645920"/>
            <a:ext cx="144475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4141" y="1737360"/>
            <a:ext cx="12990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141" y="2084831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4845" y="2176272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4845" y="2432303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61204" y="1645920"/>
            <a:ext cx="1444752" cy="2999232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1204" y="1645920"/>
            <a:ext cx="1444752" cy="365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4048" y="1737360"/>
            <a:ext cx="12990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AEAE"/>
                </a:solidFill>
              </a:rPr>
              <a:t>THU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4048" y="2084831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4753" y="2176272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4753" y="2432303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Fwd Planning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34048" y="3255263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4753" y="3346703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4753" y="3602735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11111" y="1645920"/>
            <a:ext cx="144475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11111" y="1645920"/>
            <a:ext cx="144475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3956" y="1737360"/>
            <a:ext cx="129906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FRI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83956" y="2084831"/>
            <a:ext cx="1299062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4661" y="2176272"/>
            <a:ext cx="11776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4661" y="2432303"/>
            <a:ext cx="1177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1600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KEY KPIs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1901952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19" y="1901952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270" y="2020824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5075" y="1993392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Outbound Calls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5075" y="2286000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500+ / week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31551" y="1901952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31551" y="1901952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13502" y="2020824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41306" y="1993392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Conversion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41306" y="2286000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5+ closes / week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2743200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19" y="2743200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57270" y="2862072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5075" y="2834640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Revenue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5075" y="3127248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Weekly &amp; monthly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31551" y="2743200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31551" y="2743200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13502" y="2862072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41306" y="2834640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Follow-Up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41306" y="3127248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100% warm leads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19" y="3584448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75319" y="3584448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57270" y="3703320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🏷️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5075" y="3675887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Avg Deal Value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5075" y="3968496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£450–£650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31551" y="3584448"/>
            <a:ext cx="1737360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131551" y="3584448"/>
            <a:ext cx="17373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13502" y="3703320"/>
            <a:ext cx="2622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1306" y="3675887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Retention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41306" y="3968496"/>
            <a:ext cx="12456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Maximise monthly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4773168"/>
            <a:ext cx="12188952" cy="7315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8920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RECURRING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24/7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MD Direct 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2W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Bi-Weekly 1:1s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1Y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Personal Dev Plan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339" y="60899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9 – 11 AM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6339" y="64556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Call Sprint 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3577" y="60899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11 – 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73577" y="64556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Admin · 1 hr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0815" y="60899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12 – 2 PM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20815" y="64556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Call Sprint 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68053" y="60899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4 – 6 PM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68053" y="64556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Call Sprint 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5870448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AAEAE"/>
                </a:solidFill>
              </a:rPr>
              <a:t>DAILY CALL SPRINTS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02 ·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Pre-Meeting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10 minutes before every meeting. Walk in knowing their problem before they've said a 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2724912" cy="23774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272491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60904" y="1719072"/>
            <a:ext cx="347472" cy="25603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0904" y="171907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AAEA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190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7F7"/>
                </a:solidFill>
              </a:rPr>
              <a:t>Google Them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33472"/>
            <a:ext cx="2450592" cy="7315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2450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Search the business. Do they appear at all? What comes up first — them or a competitor?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627632"/>
            <a:ext cx="2724912" cy="23774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1627632"/>
            <a:ext cx="272491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5544" y="1719072"/>
            <a:ext cx="347472" cy="25603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95544" y="171907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AAEAE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190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267712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7F7"/>
                </a:solidFill>
              </a:rPr>
              <a:t>Check Their 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633472"/>
            <a:ext cx="2450592" cy="7315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724912"/>
            <a:ext cx="2450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Is it mobile-friendly? Fast? Does it actually convert — or is it a liability?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627632"/>
            <a:ext cx="2724912" cy="23774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627632"/>
            <a:ext cx="272491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0184" y="1719072"/>
            <a:ext cx="347472" cy="25603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171907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AAEAE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7190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267712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7F7"/>
                </a:solidFill>
              </a:rPr>
              <a:t>Google Maps Rating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33472"/>
            <a:ext cx="2450592" cy="7315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724912"/>
            <a:ext cx="2450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Low score = reputation problem. No reviews = visibility problem. You solve both.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1627632"/>
            <a:ext cx="2724912" cy="23774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5400" y="1627632"/>
            <a:ext cx="272491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64824" y="1719072"/>
            <a:ext cx="347472" cy="25603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64824" y="1719072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AAEAE"/>
                </a:solidFill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17190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⚔️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267712"/>
            <a:ext cx="2450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7F7"/>
                </a:solidFill>
              </a:rPr>
              <a:t>Competitor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2633472"/>
            <a:ext cx="2450592" cy="7315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2724912"/>
            <a:ext cx="2450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Find their top 3 local competitors. Check their online presence. You'll use this to create urgency.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133087"/>
            <a:ext cx="11365992" cy="1005840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133087"/>
            <a:ext cx="45720" cy="100584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2062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OPENING 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165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BFBF"/>
                </a:solidFill>
              </a:rPr>
              <a:t>"I had a look at your business before coming in today. I noticed a few things I wanted to talk about — but first, tell me how business has been. Are you getting as many new customers as you want?"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266944"/>
            <a:ext cx="11365992" cy="676656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266944"/>
            <a:ext cx="45720" cy="6766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4132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⛔  Never open with the product. Open with their world — not yours. The product comes third.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03 · 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6 Discovery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Ask in sequence · Listen deeply · Take notes visibly. Their answers give you everything to close.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755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46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CURRENT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7510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"When a potential customer Googles you right now — what do they find?"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21284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Forces them to confront their digital reality.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6420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6420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755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46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97510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"How are most of your customers finding you at the moment?"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21284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Exposes over-reliance on referrals. One slow season away from a problem.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48716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48716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5694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279806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"Have you looked at what your top three competitors are doing online?"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303580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Creates competitive anxiety. You already know the answer — make them say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48716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48716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5694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REVENUE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79806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"76% research online before contact — what does that mean for customers you're missing?"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03580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Forces them to calculate lost revenue in their own head.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31012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31012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401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392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PREVIOUS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" y="362102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"Have you ever tried to get a website built before? What happened?"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" y="385876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Most have a war story. You are the antidote before you've mentioned the product.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310128"/>
            <a:ext cx="5486400" cy="731520"/>
          </a:xfrm>
          <a:prstGeom prst="rect">
            <a:avLst/>
          </a:prstGeom>
          <a:solidFill>
            <a:srgbClr val="12221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310128"/>
            <a:ext cx="5486400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3401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392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2C55E"/>
                </a:solidFill>
              </a:rPr>
              <a:t>FUTURE VISION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62102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"If your digital presence was exactly where you wanted it — what would change?"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385876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Most powerful question. Gets them to paint their own success picture out loud.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779008"/>
            <a:ext cx="11365992" cy="822960"/>
          </a:xfrm>
          <a:prstGeom prst="rect">
            <a:avLst/>
          </a:prstGeom>
          <a:solidFill>
            <a:srgbClr val="1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779008"/>
            <a:ext cx="457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9161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D060"/>
                </a:solidFill>
              </a:rPr>
              <a:t>💡  After all six questions: "So if I've understood you correctly..." — feed their answers back verbatim. Validates concerns, amplifies the pain, sets up the pitch. Never skip this.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04 ·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The Reveal &amp;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Bridge their pain · Show the site silently · Anchor high, land low. The emotional sale is made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Bridge the Pain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Summarise their answers in one clear statement.
Make them feel heard before you reveal anything.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4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The Silent 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Open the draft site. Say nothing. Scroll slowly.
When they lean in — that's your pivot.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Anchor High, Land 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Never open with £450. Anchor to £2,000+.
The contrast does the selling for you.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66160"/>
            <a:ext cx="11365992" cy="74980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566160"/>
            <a:ext cx="45720" cy="74980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393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PRICE REVEAL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EF7F7"/>
                </a:solidFill>
              </a:rPr>
              <a:t>"A website of this quality from a traditional agency — you're looking at £2,000 minimum. We charge £450. And you're live within 24 hours. Not a week. Not a month. Tomorrow."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348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</a:rPr>
              <a:t>BUYING SIGNALS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00016"/>
            <a:ext cx="5623560" cy="2011680"/>
          </a:xfrm>
          <a:prstGeom prst="rect">
            <a:avLst/>
          </a:prstGeom>
          <a:solidFill>
            <a:srgbClr val="081E10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700016"/>
            <a:ext cx="56235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791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"That looks really good"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157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Leans toward the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55229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Asks logistics / timeline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588873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"Can you do it in our colours?"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625449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Looks at a colleague for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44348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PROCEED WITH CAUTION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4700016"/>
            <a:ext cx="5623560" cy="2011680"/>
          </a:xfrm>
          <a:prstGeom prst="rect">
            <a:avLst/>
          </a:prstGeom>
          <a:solidFill>
            <a:srgbClr val="1E160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3912" y="4700016"/>
            <a:ext cx="5623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8504" y="4791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Arms crossed, leaning 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5157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"We need to talk to our accountant"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5229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"We'll think about it"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588873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Checking their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625449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Repeated glances at the door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05 ·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Objection Handling &amp; The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Every objection is a question in disguise. Acknowledge · Reframe · Advance.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COMMON OBJECTIONS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8366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8366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8366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385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already have a website."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Is it ranking? Is it bringing in enquiries — or a digital brochure?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1518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1518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61518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004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"£450 seems too cheap."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You've just seen it. That IS the quality. Enterprise engineers, zero overhead.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4670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34670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34670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need to think about it."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What specifically? Name the real objection. Then stop talking.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7822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07822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7822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3308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want a few quotes first."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Equivalent quality starts at £2,000+. Come back — we'll beat any quote.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0974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6460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had a bad experience before."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"Tell me what happened." Vela Sync was built because of that gap.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54126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554126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54126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961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"Not sure about the monthly."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£50/mo is insurance on a £450 asset. Easiest decision in the room.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1609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CLOSE TECHNIQUES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883664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883664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883664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9568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Assumptive Close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2311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Assumes the sale. Moves to logistics.
"What's the domain name you're using?"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743200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2743200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743200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28163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Investment Frame Close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Forces ROI calculation.
"If it brings one extra customer — what's that worth?"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602736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602736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602736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36758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Urgency Close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950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Someone is searching for you RIGHT NOW.
"What's stopping us doing this today?" — then silence.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462272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462272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462272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535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Option Close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8097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Both options are a yes.
"£450 standard or £650 SEO — which feels right?"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321808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321808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5321808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394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Instalment Close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669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Removes the financial barrier.
"Get it live tomorrow, pay on a schedule that suits you."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254496"/>
            <a:ext cx="12188952" cy="603504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"The question isn't whether — it's when."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3756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"This isn't a cost. It's a decision."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"Every day you wait, your competitor doesn't."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"Based on what you've told me..."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PRICING STRUCTURE · KNOW THESE COLD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What You're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Two packages. Two monthly tiers. The contrast vs the market is your most powerful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440680" cy="48920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544068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STANDARD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EEF7F7"/>
                </a:solidFill>
              </a:rPr>
              <a:t>£450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AEAE"/>
                </a:solidFill>
              </a:rPr>
              <a:t>$575  ·  €525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540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One-off setup  ·  Live within 24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28416"/>
            <a:ext cx="507492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Professional, mobile-responsive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Personalised to the client's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5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Domain activation or transfer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7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SSL, on-page SEO &amp; performance optimised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Client reviews &amp; approves before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Full access credentials on the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Instalments 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449824"/>
            <a:ext cx="5074920" cy="822960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5229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THEN MONTHLY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241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7F7"/>
                </a:solidFill>
              </a:rPr>
              <a:t>£50 / $65 / €58 /month — site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9710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Industry avg: £150+ /mo  ·  Cancel any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16752" y="1664208"/>
            <a:ext cx="5760720" cy="4892040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16752" y="1664208"/>
            <a:ext cx="5760720" cy="4572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737360"/>
            <a:ext cx="1737360" cy="256032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75564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BEST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8288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SEO &amp; GROWTH 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208483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3AAEAE"/>
                </a:solidFill>
              </a:rPr>
              <a:t>£650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AEAE"/>
                </a:solidFill>
              </a:rPr>
              <a:t>$825  ·  €760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30540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One-off  ·  Everything in Standard, plus growth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328416"/>
            <a:ext cx="539496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4747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Everything in Standard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72343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Marketing team briefed at 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3972153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Live traffic strategy from day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422087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Growth roadmap tailored to their business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469587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SEO foundations for immediate indexing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71830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ML-backed digital strategy applied day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9670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Save up to £1,550 vs average agency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215737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Instalments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5449824"/>
            <a:ext cx="5394960" cy="822960"/>
          </a:xfrm>
          <a:prstGeom prst="rect">
            <a:avLst/>
          </a:prstGeom>
          <a:solidFill>
            <a:srgbClr val="16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5229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THEN MONTHLY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72414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AEAE"/>
                </a:solidFill>
              </a:rPr>
              <a:t>£100 / $130 / €117 /month — maintenance + SEO + traffic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97103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Industry avg: £300+ /mo  ·  No contract, cancel any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06 ·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Post-Close, Onboarding &amp;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The close is not the finish line. Protect the sale · trigger delivery · collect payment.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DELIVERY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Log sale in CRM · notify build team · 24-hour clock starts NOW.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SAME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30-min brief call with design team — brand, copy, domain,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1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57031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WITHIN 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Build complete · client reviews · revisions · site goes live.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9260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PAYMENT COLLECTION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0040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20040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20040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32552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32369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AT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345643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Issue invoice immediately — package + first monthly fee.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9476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79476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79476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38496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05079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Full payment before or on the day the site goes live.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38912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38912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38912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444398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425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INSTALMENT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464515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First payment at close. Schedule confirmed in writing.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320040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3952" y="320040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3952" y="320040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32552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32369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1 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345643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Friendly reminder — confirming, not chasing.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379476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73952" y="379476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73952" y="379476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01968" y="38496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405079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Direct call — warm, professional, easy path to yes.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438912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73952" y="438912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73952" y="438912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01968" y="444398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4425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464515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Formal written notice. 48-hour final deadline.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102352"/>
            <a:ext cx="3822191" cy="1554480"/>
          </a:xfrm>
          <a:prstGeom prst="rect">
            <a:avLst/>
          </a:prstGeom>
          <a:solidFill>
            <a:srgbClr val="081E10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1480" y="5102352"/>
            <a:ext cx="3822191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✅  Always 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Invoice same day as close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Confirm payment terms in writing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Lock in brief call before you leave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Log every interaction in CRM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43400" y="5102352"/>
            <a:ext cx="3822191" cy="1554480"/>
          </a:xfrm>
          <a:prstGeom prst="rect">
            <a:avLst/>
          </a:prstGeom>
          <a:solidFill>
            <a:srgbClr val="1E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43400" y="5102352"/>
            <a:ext cx="3822191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8056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⛔  Never 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Hand over site before payment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6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Leave without a defined next step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Accept "call me when you're ready"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6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Agree verbal-only instalment terms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19" y="5102352"/>
            <a:ext cx="3822191" cy="1554480"/>
          </a:xfrm>
          <a:prstGeom prst="rect">
            <a:avLst/>
          </a:prstGeom>
          <a:solidFill>
            <a:srgbClr val="1E160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75319" y="5102352"/>
            <a:ext cx="3822191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⚠️  If No Close Today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Lock in a specific date &amp; time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Send draft site link that evening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Send calendar invite from the car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Vague next steps die — specific ones live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411712" y="228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60152" y="3200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>
                <a:solidFill>
                  <a:srgbClr val="EEF7F7"/>
                </a:solidFill>
              </a:rPr>
              <a:t>VELA 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457200"/>
            <a:ext cx="32004" cy="91440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25712" y="713232"/>
            <a:ext cx="32004" cy="1078992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3184" y="969264"/>
            <a:ext cx="32004" cy="1243584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20656" y="1225296"/>
            <a:ext cx="32004" cy="14081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68128" y="1481328"/>
            <a:ext cx="32004" cy="1572768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737360"/>
            <a:ext cx="32004" cy="173736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63072" y="1993392"/>
            <a:ext cx="32004" cy="1901952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10544" y="2249424"/>
            <a:ext cx="32004" cy="2066543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2004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41148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50292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8640"/>
            <a:ext cx="658368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6675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VELA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9202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AAEAE"/>
                </a:solidFill>
              </a:rPr>
              <a:t>The Standard: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468880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EF7F7"/>
                </a:solidFill>
              </a:rPr>
              <a:t>Signed. Invoiced. Brief call booked.
Site live in 24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BFBF"/>
                </a:solidFill>
              </a:rPr>
              <a:t>That is what you're selling. That is exactly what you deliver.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89120"/>
            <a:ext cx="7498079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Stages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500+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Calls/wk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Closes/wk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To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© 2026 Vela Sync Ltd · Co. No. 17051204 · Internal Sales Playbook — Confidential —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