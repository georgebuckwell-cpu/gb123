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48640"/>
            <a:ext cx="36576" cy="10058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81160" y="2011680"/>
            <a:ext cx="36576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0" y="3474720"/>
            <a:ext cx="36576" cy="8229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21240" y="5120640"/>
            <a:ext cx="36576" cy="6400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91440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37744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384048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530352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6675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38328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35608"/>
            <a:ext cx="3246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INTERNAL OPERATIONS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10512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EF7F7"/>
                </a:solidFill>
              </a:rPr>
              <a:t>The 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50592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AAEAE"/>
                </a:solidFill>
              </a:rPr>
              <a:t>Sales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9ABFBF"/>
                </a:solidFill>
              </a:rPr>
              <a:t>8 stages · zero ambiguity · one system to close every room.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3035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Entry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To go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77%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SMEs no web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175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B8E8E"/>
                </a:solidFill>
              </a:rPr>
              <a:t>01 → 02 → 03 → 04 → 05 → 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456432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112" y="351129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01  Onboarding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886200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394106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02  Pre-Meeting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315968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54112" y="4370831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03  Discovery Call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4745736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54112" y="4800599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04  Reveal &amp; Pitch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5175504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54112" y="52303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05  Objection &amp; Close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5605271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566013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06  Post-Close &amp;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FULL PIPELINE ·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8-Stage Sales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Advisor
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FOUNDATION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427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9948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69948" y="1627632"/>
            <a:ext cx="1280160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994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994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994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Weekly
Cadence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994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RHYTHM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9251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274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6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28416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Pre-Meeting
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71212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6884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86884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6884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6884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6884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Discovery
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6884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QUALIFY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188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9680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2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Reveal
&amp; Pitch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PRESENT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4656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8148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3819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03819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03819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819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3819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Objection
&amp; Close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3819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CONVERT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312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4661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62288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62288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6228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228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228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Pricing
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6228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SELL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51592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0508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20755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20755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20755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20755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20755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Post-Close
&amp;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20755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COMPLETE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339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339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Calls / week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3577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3577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Closes / week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0815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0815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From close to live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8053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68053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Entry · no contract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01 ·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Advisor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Know the product. Know the tools. Know the numbers — before you speak to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Product Mastery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Every package &amp; price cold
£450 / £650 setup  ·  £50 / £100 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Tools &amp;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Lead list · Demo site · Scripts
Objection guides · CRM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5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5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5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Targets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500 outbound calls / week
5 closed sales / week minimum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182112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THE SIX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You are the expert. Act like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Confidence is not optional.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0248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0248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8264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Silence is a weapon.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After every powerful question — stop talking.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0808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Diagnose before you prescribe.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0808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Ask before you pitch. Always.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Speak in outcomes, not features.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They care about customers, not animations.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0248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0248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98264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Frame everything as ROI.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Every price is an investment.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9016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29016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57032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0808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Show, don't tell.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0808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Open the draft site silently. Let them sell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TEAM CADENCE · WEEKLY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Schedule &amp;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Consistent rhythm drives consistent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45920"/>
            <a:ext cx="217627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45920"/>
            <a:ext cx="217627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737360"/>
            <a:ext cx="19568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" y="2084831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76272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11:00 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3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Diary Alignment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3255263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346703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602735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KPI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645920"/>
            <a:ext cx="217627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1645920"/>
            <a:ext cx="217627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52928" y="1737360"/>
            <a:ext cx="19568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TUE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084831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4368" y="2176272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2432303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645920"/>
            <a:ext cx="217627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4920" y="1645920"/>
            <a:ext cx="217627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1737360"/>
            <a:ext cx="19568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WED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4648" y="2084831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2176272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088" y="2432303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1645920"/>
            <a:ext cx="217627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06640" y="1645920"/>
            <a:ext cx="2176272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7" y="1737360"/>
            <a:ext cx="19568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16367" y="2084831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7808" y="2176272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2432303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Fwd Planning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16367" y="3255263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07808" y="3346703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8" y="3602735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8359" y="1645920"/>
            <a:ext cx="217627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8359" y="1645920"/>
            <a:ext cx="217627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48087" y="1737360"/>
            <a:ext cx="19568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FRI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48087" y="2084831"/>
            <a:ext cx="1956815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39528" y="2176272"/>
            <a:ext cx="17739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39528" y="2432303"/>
            <a:ext cx="17739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28432" y="1600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KEY KPIs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83879" y="1901952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3879" y="1901952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75319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1993392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Outbound Calls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80" y="228600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500+ / week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59567" y="1901952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59567" y="1901952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51007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6767" y="1993392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Conversion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16767" y="228600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5+ closes / week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83879" y="2743200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83879" y="2743200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19" y="286207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1080" y="283464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41080" y="3127248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Weekly &amp; monthly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59567" y="2743200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259567" y="2743200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51007" y="286207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16767" y="283464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Follow-Up 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16767" y="3127248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100% warm leads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83879" y="3584448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183879" y="3584448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75319" y="3703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🏷️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41080" y="3675887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Avg Deal Value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41080" y="3968496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£450–£650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59567" y="3584448"/>
            <a:ext cx="1938528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59567" y="3584448"/>
            <a:ext cx="193852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1007" y="3703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6767" y="3675887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Retention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16767" y="3968496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Maximise monthly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4773168"/>
            <a:ext cx="12188952" cy="731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8920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RECURRING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24/7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MD Direct Line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72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Bi-Weekly 1:1s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3544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1Y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3544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Personal Dev Plan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6339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339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Diary + KPI Review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73577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Tue–Fri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73577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5pm Daily Touch 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0815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0815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Weekly Fwd Planning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8053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Bi-wk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68053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1:1 with 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02 ·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Pre-Meeting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10 minutes before every meeting. Walk in knowing their problem before they've said a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Search the business. Do they appear at all? What comes up first — them or a competitor?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Is it mobile-friendly? Fast? Does it actually convert — or is it a liability?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1540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1540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⚔️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256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Find their top 3 local competitors. Check their online presence. You'll use this to create urgency.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33087"/>
            <a:ext cx="11365992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133087"/>
            <a:ext cx="45720" cy="10058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062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4165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"I had a look at your business before coming in today. I noticed a few things I wanted to talk about — but first, tell me how business has been. Are you getting as many new customers as you want?"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66944"/>
            <a:ext cx="11365992" cy="676656"/>
          </a:xfrm>
          <a:prstGeom prst="rect">
            <a:avLst/>
          </a:prstGeom>
          <a:solidFill>
            <a:srgbClr val="22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266944"/>
            <a:ext cx="45720" cy="6766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41324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7171"/>
                </a:solidFill>
              </a:rPr>
              <a:t>⛔  Never open with the product. Open with their world — not yours. The product comes third.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03 · QUALIFICATION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6 Discovery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Ask in sequence · Listen deeply · Take notes visibly. Their answers give you everything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confront their digital reality.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Exposes over-reliance on referrals. One slow season away from a problem.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looked at what your top three competitors are doing online?"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Creates competitive anxiety. You already know the answer — make them say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REVENUE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"76% research online before contact — what does that mean for customers you're missing?"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calculate lost revenue in their own head.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1012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31012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PREVIOUS EXPERIENCE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have a war story. You are the antidote before you've mentioned the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10128"/>
            <a:ext cx="5486400" cy="731520"/>
          </a:xfrm>
          <a:prstGeom prst="rect">
            <a:avLst/>
          </a:prstGeom>
          <a:solidFill>
            <a:srgbClr val="122218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310128"/>
            <a:ext cx="5486400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2C55E"/>
                </a:solidFill>
              </a:rPr>
              <a:t>FUTURE 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"If your digital presence was exactly where you wanted it — what would change?"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powerful question. Gets them to paint their own success picture out loud.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79008"/>
            <a:ext cx="11365992" cy="822960"/>
          </a:xfrm>
          <a:prstGeom prst="rect">
            <a:avLst/>
          </a:prstGeom>
          <a:solidFill>
            <a:srgbClr val="18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779008"/>
            <a:ext cx="4572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9161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D060"/>
                </a:solidFill>
              </a:rPr>
              <a:t>💡  After all six questions: "So if I've understood you correctly..." — feed their answers back verbatim. Validates concerns, amplifies the pain, sets up the pitch. Never skip this.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04 ·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Reveal &amp;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Bridge their pain · Show the site silently · Anchor high, land low. The emotional sale is made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Bridge the Pain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Summarise their answers in one clear statement.
Make them feel heard before you reveal anything.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5384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The Silent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Open the draft site. Say nothing. Scroll slowly.
When they lean in — that's your pivot.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9288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Anchor High, Land 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Never open with £450. Anchor to £2,000+.
The contrast does the selling for you.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66160"/>
            <a:ext cx="11365992" cy="74980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566160"/>
            <a:ext cx="45720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6393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PRICE REVEAL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EF7F7"/>
                </a:solidFill>
              </a:rPr>
              <a:t>"A website of this quality from a traditional agency — you're looking at £2,000 minimum. We charge £450. And you're live within 24 hours. Not a week. Not a month. Tomorrow."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2C55E"/>
                </a:solidFill>
              </a:rPr>
              <a:t>BUYING SIGNALS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00016"/>
            <a:ext cx="5623560" cy="20116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00016"/>
            <a:ext cx="562356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"That looks really good"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Leans toward the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Asks logistics / timeline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"Can you do it in our colours?"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Looks at a colleague for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3912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PROCEED WITH CAUTION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3912" y="4700016"/>
            <a:ext cx="5623560" cy="20116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4700016"/>
            <a:ext cx="56235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Arms crossed, leaning 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 need to talk to our accountant"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"We'll think about it"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Checking their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Repeated glances at the door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05 ·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Objection Handling &amp; The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Every objection is a question in disguise. Acknowledge · Reframe · Advance.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COMMON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836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836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836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385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already have a website."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 it ranking? Is it bringing in enquiries — or a digital brochure?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1518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61518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61518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7004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"£450 seems too cheap."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You've just seen it. That IS the quality. Enterprise engineers, zero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4670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34670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34670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need to think about it."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What specifically? Name the real objection. Then stop talking.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7822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07822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07822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3308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want a few quotes first."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Equivalent quality starts at £2,000+. Come back — we'll beat any quote.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0974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0974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80974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6460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had a bad experience before."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120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"Tell me what happened." Vela Sync was built because of that gap.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5412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5412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5412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961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"Not sure about the monthly."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52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£50/mo is insurance on a £450 asset. Easiest decision in the room.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CLOSE TECHNIQUES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883664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1883664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883664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19568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2311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Assumes the sale. Moves to logistics.
"What's the domain name you're using?"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743200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743200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2743200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8163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Investment Frame 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0906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Forces ROI calculation.
"If it brings one extra customer — what's that worth?"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602736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602736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02736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36758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Someone is searching for you RIGHT NOW.
"What's stopping us doing this today?" — then silence.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62272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62272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462272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535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8097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Both options are a yes.
"£450 standard or £650 SEO — which feels right?"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5321808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321808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5321808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55080" y="5394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669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the financial barrier.
"Get it live tomorrow, pay on a schedule that suits you."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254496"/>
            <a:ext cx="12188952" cy="603504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"The question isn't whether — it's when."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756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"This isn't a cost. It's a decision."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364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"Every day you wait, your competitor doesn't."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"Based on what you've told me..."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PRICING STRUCTURE · KNOW THESE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What You're Selling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Two packages. Two monthly tiers. The contrast vs the market is your most powerful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40680" cy="48920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4068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EEF7F7"/>
                </a:solidFill>
              </a:rPr>
              <a:t>£450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$575  ·  €525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setup  ·  Live within 24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328416"/>
            <a:ext cx="50749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747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Professional, mobile-responsive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4903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Personalised to the client's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2335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Domain activation or transfer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9767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SSL, on-page SEO &amp; performance optimised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Client reviews &amp; approves before 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463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Full access credentials on the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49824"/>
            <a:ext cx="5074920" cy="82296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2414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F7F7"/>
                </a:solidFill>
              </a:rPr>
              <a:t>£50 / $65 / €58 /month — site maintenance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971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£150+ /mo  ·  Cancel any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16752" y="1664208"/>
            <a:ext cx="5760720" cy="4892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6752" y="1664208"/>
            <a:ext cx="5760720" cy="4572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737360"/>
            <a:ext cx="1737360" cy="2560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75564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3AAEAE"/>
                </a:solidFill>
              </a:rPr>
              <a:t>£650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$825  ·  €760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30540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 ·  Everything in Standard, plus growth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328416"/>
            <a:ext cx="539496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4747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Everything in Standard Package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723436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Marketing team briefed at launch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972153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Live traffic strategy from day 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22087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Growth roadmap tailored to their business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46958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SEO foundations for immediate indexing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7183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ML-backed digital strategy applied day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9670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Save up to £1,550 vs average agency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521573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5449824"/>
            <a:ext cx="5394960" cy="822960"/>
          </a:xfrm>
          <a:prstGeom prst="rect">
            <a:avLst/>
          </a:prstGeom>
          <a:solidFill>
            <a:srgbClr val="16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724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AAEAE"/>
                </a:solidFill>
              </a:rPr>
              <a:t>£100 / $130 / €117 /month — maintenance + SEO + traffic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97103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£300+ /mo  ·  No contract, cancel any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06 ·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Post-Close, Onboarding &amp;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The close is not the finish line. Protect the sale · trigger delivery · collect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DELIVERY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IMMEDIATELY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Log sale in CRM · notify build team · 24-hour clock starts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SAME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30-min brief call with design team — brand, copy, domain,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7031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57031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WITHIN 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Build complete · client reviews · revisions · site goes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9260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PAYMENT COLLECTION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20040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AT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Issue invoice immediately — package + first monthly fee.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79476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Full payment before or on the day the site goes live.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438912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INSTALMENT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First payment at close. Schedule confirmed in writing.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73952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3952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3952" y="320040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1 LATE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7728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Friendly reminder — confirming, not chasing.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73952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73952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73952" y="379476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Direct call — warm, professional, easy path to yes.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3952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73952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73952" y="438912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01968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Formal written notice. 48-hour final deadline.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5102352"/>
            <a:ext cx="3822191" cy="15544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1480" y="5102352"/>
            <a:ext cx="3822191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✅  Always Do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Invoice same day as close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Confirm payment terms in writing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brief call before you leave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Log every interaction in CRM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43400" y="5102352"/>
            <a:ext cx="3822191" cy="1554480"/>
          </a:xfrm>
          <a:prstGeom prst="rect">
            <a:avLst/>
          </a:prstGeom>
          <a:solidFill>
            <a:srgbClr val="1E0808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43400" y="5102352"/>
            <a:ext cx="3822191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⛔  Never 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6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Hand over site before payment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056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Leave without a defined next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Accept "call me when you're ready"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8056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Agree verbal-only instalment terms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19" y="5102352"/>
            <a:ext cx="3822191" cy="15544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19" y="5102352"/>
            <a:ext cx="3822191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⚠️  If No Close Today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a specific date &amp; 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draft site link that evening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1248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calendar invite from the car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Vague next steps die — specific ones live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0" y="457200"/>
            <a:ext cx="32004" cy="9144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25712" y="713232"/>
            <a:ext cx="32004" cy="10789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73184" y="969264"/>
            <a:ext cx="32004" cy="124358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20656" y="1225296"/>
            <a:ext cx="32004" cy="14081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68128" y="1481328"/>
            <a:ext cx="32004" cy="157276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737360"/>
            <a:ext cx="32004" cy="17373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63072" y="1993392"/>
            <a:ext cx="32004" cy="190195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10544" y="2249424"/>
            <a:ext cx="32004" cy="2066543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3716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2860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1148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50292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6675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92024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AAEAE"/>
                </a:solidFill>
              </a:rPr>
              <a:t>The Standard: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468880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EF7F7"/>
                </a:solidFill>
              </a:rPr>
              <a:t>Signed. Invoiced. Brief call booked.
Site live in 24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BFBF"/>
                </a:solidFill>
              </a:rPr>
              <a:t>That is what you're selling. That is exactly what you deliver.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389120"/>
            <a:ext cx="7498079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Calls/wk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Closes/wk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To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© 2026 Vela Sync Ltd · Co. No. 17051204 · Internal Sales Playbook — Confidential — Not for Distribution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