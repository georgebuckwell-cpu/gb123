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548640"/>
            <a:ext cx="36576" cy="100584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60" y="2011680"/>
            <a:ext cx="36576" cy="45720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0" y="3474720"/>
            <a:ext cx="36576" cy="82296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21240" y="5120640"/>
            <a:ext cx="36576" cy="64008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91440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237744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384048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89520" y="5303520"/>
            <a:ext cx="320040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8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6675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VELA SYNC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417320"/>
            <a:ext cx="338328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435608"/>
            <a:ext cx="3246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INTERNAL OPERATIONS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10512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EEF7F7"/>
                </a:solidFill>
              </a:rPr>
              <a:t>The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50592"/>
            <a:ext cx="64008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3AAEAE"/>
                </a:solidFill>
              </a:rPr>
              <a:t>Sales Process.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47472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9ABFBF"/>
                </a:solidFill>
              </a:rPr>
              <a:t>8 stages · zero ambiguity · one system to close every room.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39"/>
            <a:ext cx="530352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Stages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£450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Entry package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To go live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4133087"/>
            <a:ext cx="1463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AEAE"/>
                </a:solidFill>
              </a:rPr>
              <a:t>77%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5902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SMEs no web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30175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B8E8E"/>
                </a:solidFill>
              </a:rPr>
              <a:t>01 → 02 → 03 → 04 → 05 → 06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3456432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3511296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EF7F7"/>
                </a:solidFill>
              </a:rPr>
              <a:t>01  Onboarding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3886200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941063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02  Pre-Meeting Research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315968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54112" y="4370831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03  Discovery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0" y="4745736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54112" y="4800599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04  Reveal &amp; Pitch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5175504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54112" y="52303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05  Objection &amp; Close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89520" y="5605271"/>
            <a:ext cx="4114800" cy="347472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54112" y="5660135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06  Post-Close &amp; Payment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FULL PIPELINE ·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The 8-Stage Sales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Advisor
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FOUNDATION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00784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4276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69948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69948" y="1627632"/>
            <a:ext cx="1280160" cy="365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69948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9948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69948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Weekly
Cadence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9948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RHYTHM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9251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2744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28416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Pre-Meeting
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6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PREP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17720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1212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86884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86884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86884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6884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6884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Discovery
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6884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QUALIFY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76188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9680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5352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45352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5352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5352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👁️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Reveal
&amp; Pitch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45352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PRESENT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34656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8148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03819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03819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03819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03819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03819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Objection
&amp; Close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03819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CONVERT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93124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6616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62288" y="1627632"/>
            <a:ext cx="1280160" cy="1691640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62288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62288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£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62288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💷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62288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Pricing
Structure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62288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SELL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51592" y="2466136"/>
            <a:ext cx="141732" cy="1463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05084" y="233629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B8E8E"/>
                </a:solidFill>
              </a:rPr>
              <a:t>›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20755" y="1627632"/>
            <a:ext cx="1280160" cy="16916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620755" y="1627632"/>
            <a:ext cx="128016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620755" y="17007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AAEAE"/>
                </a:solidFill>
              </a:rPr>
              <a:t>06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20755" y="204825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EF7F7"/>
                </a:solidFill>
              </a:rPr>
              <a:t>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20755" y="2377440"/>
            <a:ext cx="1280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EF7F7"/>
                </a:solidFill>
              </a:rPr>
              <a:t>Post-Close
&amp; Payment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20755" y="3054096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2B8E8E"/>
                </a:solidFill>
              </a:rPr>
              <a:t>COMPLETE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6339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500+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6339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Calls / week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73577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5+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73577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Closes / week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20815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20815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From close to live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568053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£450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568053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Entry · no contract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01 ·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Advisor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Know the product. Know the tools. Know the numbers — before you speak to anyone.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Product Mastery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Every package &amp; price cold
£450 / £650 setup  ·  £50 / £100 /mo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Tools &amp;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Lead list · Demo site · Scripts
Objection guides · CRM access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29015" y="1664208"/>
            <a:ext cx="3749039" cy="1371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29015" y="166420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7647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7F7"/>
                </a:solidFill>
              </a:rPr>
              <a:t>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06255" y="17922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Targets &amp; KPIs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2212848"/>
            <a:ext cx="341985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500 outbound calls / week
5 closed sales / week minimum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182112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THE SIX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You are the expert. Act like it.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Confidence is not optional.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8264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Silence is a weapon.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After every powerful question — stop talking.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9016" y="3429000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29016" y="3429000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7032" y="3593592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0808" y="3538728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Diagnose before you prescribe.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0808" y="3886200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Ask before you pitch. Always.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📊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72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Speak in outcomes, not features.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They care about customers, not animations.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0248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70248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98264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Frame everything as ROI.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92040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Every price is an investment.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9016" y="4590288"/>
            <a:ext cx="3749039" cy="10972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29016" y="4590288"/>
            <a:ext cx="3749039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7032" y="47548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0808" y="4700016"/>
            <a:ext cx="2999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Show, don't tell.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50808" y="5047488"/>
            <a:ext cx="29992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Open the draft site silently. Let them sell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TEAM CADENCE · WEEKLY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Schedule &amp;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Consistent rhythm drives consistent performance.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45920"/>
            <a:ext cx="2176272" cy="2999232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45920"/>
            <a:ext cx="217627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AEAE"/>
                </a:solidFill>
              </a:rPr>
              <a:t>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" y="2084831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176272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11:00 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432303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Diary Alignment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3255263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3346703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602735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KPI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645920"/>
            <a:ext cx="217627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1645920"/>
            <a:ext cx="217627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TUE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52928" y="2084831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44368" y="2176272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44368" y="2432303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1645920"/>
            <a:ext cx="217627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74920" y="1645920"/>
            <a:ext cx="217627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84648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WED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84648" y="2084831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6088" y="2176272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6088" y="2432303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1645920"/>
            <a:ext cx="2176272" cy="2999232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1645920"/>
            <a:ext cx="2176272" cy="365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7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AAEAE"/>
                </a:solidFill>
              </a:rPr>
              <a:t>THU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16367" y="2084831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8" y="2176272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2432303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Fwd Planning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16367" y="3255263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07808" y="3346703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07808" y="3602735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38359" y="1645920"/>
            <a:ext cx="2176272" cy="2999232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38359" y="1645920"/>
            <a:ext cx="2176272" cy="3657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48087" y="1737360"/>
            <a:ext cx="195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5A8080"/>
                </a:solidFill>
              </a:rPr>
              <a:t>FRI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48087" y="2084831"/>
            <a:ext cx="1956815" cy="105156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9528" y="2176272"/>
            <a:ext cx="1773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5:00 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9528" y="2432303"/>
            <a:ext cx="177393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EF7F7"/>
                </a:solidFill>
              </a:rPr>
              <a:t>Daily Touch 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2" y="1600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KEY KPIs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1901952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1901952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19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199339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Outbound Calls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22860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500+ / week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59567" y="1901952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259567" y="1901952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51007" y="20208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16767" y="199339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Conversion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16767" y="228600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5+ closes / week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79" y="2743200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83879" y="2743200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19" y="2862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28346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Revenue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31272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Weekly &amp; monthly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59567" y="2743200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259567" y="2743200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51007" y="2862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16767" y="283464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Follow-Up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16767" y="3127248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100% warm leads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83879" y="3584448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83879" y="3584448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75319" y="3703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🏷️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41080" y="3675887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Avg Deal Value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41080" y="396849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£450–£650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59567" y="3584448"/>
            <a:ext cx="1938528" cy="74980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259567" y="3584448"/>
            <a:ext cx="193852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351007" y="37033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7F7"/>
                </a:solidFill>
              </a:rPr>
              <a:t>🔁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716767" y="3675887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EF7F7"/>
                </a:solidFill>
              </a:rPr>
              <a:t>Retention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716767" y="3968496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AAEAE"/>
                </a:solidFill>
              </a:rPr>
              <a:t>Maximise monthly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4773168"/>
            <a:ext cx="12188952" cy="73152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48920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RECURRING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4320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0040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24/7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MD Direct Line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🎯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2W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Bi-Weekly 1:1s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78240" y="48463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EF7F7"/>
                </a:solidFill>
              </a:rPr>
              <a:t>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235440" y="486460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AEAE"/>
                </a:solidFill>
              </a:rPr>
              <a:t>1Y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235440" y="5166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Personal Dev Plan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5833872"/>
            <a:ext cx="12188952" cy="102412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26339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Mon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6339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Diary + KPI Review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73577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Tue–Fri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73577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5pm Daily Touch Point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520815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Thu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20815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Weekly Fwd Planning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568053" y="5943600"/>
            <a:ext cx="2194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AAEAE"/>
                </a:solidFill>
              </a:rPr>
              <a:t>Bi-wk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568053" y="640080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A8080"/>
                </a:solidFill>
              </a:rPr>
              <a:t>1:1 with 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02 ·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Pre-Meeting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10 minutes before every meeting. Walk in knowing their problem before they've said a 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2670048" cy="2514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267004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18470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B8E8E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Google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23042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Search the business name. What comes up? Do they rank? Do they even appear?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1664208"/>
            <a:ext cx="2670048" cy="2514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1664208"/>
            <a:ext cx="267004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82880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8470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B8E8E"/>
                </a:solidFill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235915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Check Their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2743200"/>
            <a:ext cx="23042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Is it mobile-friendly? Fast? Does it convert — or is it a liability?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27064" y="1664208"/>
            <a:ext cx="2670048" cy="2514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27064" y="1664208"/>
            <a:ext cx="267004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182880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18470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B8E8E"/>
                </a:solidFill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235915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Google Maps Rating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43200"/>
            <a:ext cx="23042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Low score = reputation problem. No reviews = visibility problem. You solve both.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34856" y="1664208"/>
            <a:ext cx="2670048" cy="251460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34856" y="1664208"/>
            <a:ext cx="2670048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828800"/>
            <a:ext cx="530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EEF7F7"/>
                </a:solidFill>
              </a:rPr>
              <a:t>⚔️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64824" y="184708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2B8E8E"/>
                </a:solidFill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359152"/>
            <a:ext cx="23042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Competitor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2743200"/>
            <a:ext cx="2304288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Find their top 3 local competitors. Check their presence. Use it to create urgency.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4315968"/>
            <a:ext cx="11365992" cy="111556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315968"/>
            <a:ext cx="45720" cy="11155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3891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OPENING 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60857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ABFBF"/>
                </a:solidFill>
              </a:rPr>
              <a:t>"I had a look at your business before coming in today. I noticed a few things I wanted to talk about — but first, tell me how business has been. Are you getting as many new customers as you want?"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5541264"/>
            <a:ext cx="11365992" cy="749808"/>
          </a:xfrm>
          <a:prstGeom prst="rect">
            <a:avLst/>
          </a:prstGeom>
          <a:solidFill>
            <a:srgbClr val="22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541264"/>
            <a:ext cx="45720" cy="7498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" y="56875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87171"/>
                </a:solidFill>
              </a:rPr>
              <a:t>⛔  Never open with the product. Open with their world — not yours. The product comes third.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03 · QUALIFICATION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6 Discovery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Ask in sequence · Listen deeply · Take notes visibly. Their answers give you everything to close.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755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746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CURRENT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197510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"When a potential customer Googles you right now — what do they find?"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221284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Forces them to confront their digital reality.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6420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6420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7556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74650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97510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"How are most of your customers finding you at the moment?"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21284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Exposes over-reliance on referrals. One slow season away from a problem.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48716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48716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5694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" y="279806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"Have you looked at what your top three competitors are doing online?"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" y="303580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Creates competitive anxiety. You already know the answer — make them say 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48716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248716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25786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56946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REVENUE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279806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"76% research online before contact — what does that mean for customers you're missing?"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03580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Forces them to calculate lost revenue in their own head.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3310128"/>
            <a:ext cx="5486400" cy="73152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310128"/>
            <a:ext cx="548640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496" y="3401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392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B8E8E"/>
                </a:solidFill>
              </a:rPr>
              <a:t>PREVIOUS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" y="362102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"Have you ever tried to get a website built before? What happened?"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" y="385876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Most have a war story. You are the antidote before you've mentioned the product.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310128"/>
            <a:ext cx="5486400" cy="731520"/>
          </a:xfrm>
          <a:prstGeom prst="rect">
            <a:avLst/>
          </a:prstGeom>
          <a:solidFill>
            <a:srgbClr val="122218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310128"/>
            <a:ext cx="5486400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34015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392424"/>
            <a:ext cx="4892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2C55E"/>
                </a:solidFill>
              </a:rPr>
              <a:t>FUTURE VISION 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621024"/>
            <a:ext cx="52303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EF7F7"/>
                </a:solidFill>
              </a:rPr>
              <a:t>"If your digital presence was exactly where you wanted it — what would change?"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3858768"/>
            <a:ext cx="5230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Most powerful question. Gets them to paint their own success picture out loud.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779008"/>
            <a:ext cx="11365992" cy="822960"/>
          </a:xfrm>
          <a:prstGeom prst="rect">
            <a:avLst/>
          </a:prstGeom>
          <a:solidFill>
            <a:srgbClr val="18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779008"/>
            <a:ext cx="45720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9161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D060"/>
                </a:solidFill>
              </a:rPr>
              <a:t>💡  After all six questions: "So if I've understood you correctly..." — feed their answers back verbatim. Validates concerns, amplifies the pain, sets up the pitch. Never skip this.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04 ·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The Reveal &amp; Pitch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Bridge their pain · Show the site silently · Anchor high, land low. The emotional sale is made 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Bridge the Pain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Summarise their answers in one clear statement.
Make them feel heard before you reveal anything.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15384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4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9976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The Silent Show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Open the draft site. Say nothing. Scroll slowly.
When they lean in — that's your pivot.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1664208"/>
            <a:ext cx="3730752" cy="178308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1664208"/>
            <a:ext cx="3730752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1773936"/>
            <a:ext cx="502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EF7F7"/>
                </a:solidFill>
              </a:rPr>
              <a:t>⚖️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1801368"/>
            <a:ext cx="2560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STEP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226771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EF7F7"/>
                </a:solidFill>
              </a:rPr>
              <a:t>Anchor High, Land 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633472"/>
            <a:ext cx="34015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Never open with £450. Anchor to £2,000+.
The contrast does the selling for you.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566160"/>
            <a:ext cx="11365992" cy="749808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566160"/>
            <a:ext cx="45720" cy="74980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36393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PRICE REVEAL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EF7F7"/>
                </a:solidFill>
              </a:rPr>
              <a:t>"A website of this quality from a traditional agency — you're looking at £2,000 minimum. We charge £450. And you're live within 24 hours. Not a week. Not a month. Tomorrow."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4348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2C55E"/>
                </a:solidFill>
              </a:rPr>
              <a:t>BUYING SIGNALS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700016"/>
            <a:ext cx="5623560" cy="2011680"/>
          </a:xfrm>
          <a:prstGeom prst="rect">
            <a:avLst/>
          </a:prstGeom>
          <a:solidFill>
            <a:srgbClr val="081E10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700016"/>
            <a:ext cx="562356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791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"That looks really good"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" y="5157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Leans toward the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" y="55229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Asks logistics / timeline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" y="588873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"Can you do it in our colours?"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" y="625449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6EFAC"/>
                </a:solidFill>
              </a:rPr>
              <a:t>✅  Looks at a colleague for approval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4434840"/>
            <a:ext cx="5623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9E0B"/>
                </a:solidFill>
              </a:rPr>
              <a:t>PROCEED WITH CAUTION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4700016"/>
            <a:ext cx="5623560" cy="2011680"/>
          </a:xfrm>
          <a:prstGeom prst="rect">
            <a:avLst/>
          </a:prstGeom>
          <a:solidFill>
            <a:srgbClr val="1E160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53912" y="4700016"/>
            <a:ext cx="5623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18504" y="479145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Arms crossed, leaning 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8504" y="515721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"We need to talk to our accountant"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552297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"We'll think about it"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18504" y="588873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Checking their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6254496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BD582"/>
                </a:solidFill>
              </a:rPr>
              <a:t>⚠️  Repeated glances at the door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05 ·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Objection Handling &amp; The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Every objection is a question in disguise. Acknowledge · Reframe · Advance.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COMMON OBJECTIONS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8366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8366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8366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385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already have a website."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194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Is it ranking? Is it bringing in enquiries — or a digital brochure?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1518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61518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61518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7004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"£450 seems too cheap."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You've just seen it. That IS the quality. Enterprise engineers, zero overhead.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34670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34670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34670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015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need to think about it."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657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What specifically? Name the real objection. Then stop talking.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7822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07822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07822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13308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want a few quotes first."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Equivalent quality starts at £2,000+. Come back — we'll beat any quote.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0974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80974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480974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64607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"We had a bad experience before."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"Tell me what happened." Vela Sync was built because of that gap.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541264"/>
            <a:ext cx="5577840" cy="65836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5541264"/>
            <a:ext cx="55778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5541264"/>
            <a:ext cx="36576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5961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EEF7F7"/>
                </a:solidFill>
              </a:rPr>
              <a:t>"Not sure about the monthly."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£50/mo is insurance on a £450 asset. Easiest decision in the room.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16093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CLOSE TECHNIQUES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883664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883664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883664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9568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Assumptive Close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2311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Assumes the sale. Moves to logistics.
"What's the domain name you're using?"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2743200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2743200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17920" y="2743200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28163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Investment Frame Close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0906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Forces ROI calculation.
"If it brings one extra customer — what's that worth?"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3602736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602736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17920" y="3602736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5080" y="3675887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Urgency Close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5080" y="3950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Someone is searching for you RIGHT NOW.
"What's stopping us doing this today?" — then silence.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4462272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4462272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17920" y="4462272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4535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Option Close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55080" y="480974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Both options are a yes.
"£450 standard or £650 SEO — which feels right?"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5321808"/>
            <a:ext cx="5559552" cy="786384"/>
          </a:xfrm>
          <a:prstGeom prst="rect">
            <a:avLst/>
          </a:prstGeom>
          <a:solidFill>
            <a:srgbClr val="152222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5321808"/>
            <a:ext cx="5559552" cy="36576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5321808"/>
            <a:ext cx="36576" cy="786384"/>
          </a:xfrm>
          <a:prstGeom prst="rect">
            <a:avLst/>
          </a:prstGeom>
          <a:solidFill>
            <a:srgbClr val="5F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539496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Instalment Close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56692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Removes the financial barrier.
"Get it live tomorrow, pay on a schedule that suits you."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254496"/>
            <a:ext cx="12188952" cy="603504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"The question isn't whether — it's when."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3756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"This isn't a cost. It's a decision."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"Every day you wait, your competitor doesn't."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89720" y="6336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2B8E8E"/>
                </a:solidFill>
              </a:rPr>
              <a:t>"Based on what you've told me..."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PRICING STRUCTURE · KNOW THESE COLD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What You're Selling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Two packages. Two monthly tiers. The contrast vs the market is your most powerful tool.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64208"/>
            <a:ext cx="5440680" cy="4892040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664208"/>
            <a:ext cx="544068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STANDARD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8483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EEF7F7"/>
                </a:solidFill>
              </a:rPr>
              <a:t>£450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AEAE"/>
                </a:solidFill>
              </a:rPr>
              <a:t>$575  ·  €525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5409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One-off setup  ·  Live within 24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28416"/>
            <a:ext cx="507492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Professional, mobile-responsive website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Personalised to the client's brand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2335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Domain activation or transfer included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297679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SSL, on-page SEO &amp; performance optimised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Client reviews &amp; approves before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4632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Full access credentials on the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5029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Instalments available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449824"/>
            <a:ext cx="5074920" cy="822960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5229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THEN MONTHLY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7241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EF7F7"/>
                </a:solidFill>
              </a:rPr>
              <a:t>£50 / $65 / €58 /month — site maintenance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971032"/>
            <a:ext cx="4754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Industry avg: £150+ /mo  ·  Cancel any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16752" y="1664208"/>
            <a:ext cx="5760720" cy="4892040"/>
          </a:xfrm>
          <a:prstGeom prst="rect">
            <a:avLst/>
          </a:prstGeom>
          <a:solidFill>
            <a:srgbClr val="15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16752" y="1664208"/>
            <a:ext cx="5760720" cy="4572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737360"/>
            <a:ext cx="1737360" cy="256032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755648"/>
            <a:ext cx="17373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BEST 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632" y="182880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SEO &amp; GROWTH 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2084831"/>
            <a:ext cx="3474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3AAEAE"/>
                </a:solidFill>
              </a:rPr>
              <a:t>£650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AAEAE"/>
                </a:solidFill>
              </a:rPr>
              <a:t>$825  ·  €760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305409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One-off  ·  Everything in Standard, plus growth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3328416"/>
            <a:ext cx="5394960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34747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Everything in Standard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9632" y="372343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Marketing team briefed at launch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3972153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Live traffic strategy from day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9632" y="422087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Growth roadmap tailored to their business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4469587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SEO foundations for immediate indexing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471830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ML-backed digital strategy applied day 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96702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Save up to £1,550 vs average agency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5215737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✓  Instalments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5449824"/>
            <a:ext cx="5394960" cy="822960"/>
          </a:xfrm>
          <a:prstGeom prst="rect">
            <a:avLst/>
          </a:prstGeom>
          <a:solidFill>
            <a:srgbClr val="16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522976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3AAEAE"/>
                </a:solidFill>
              </a:rPr>
              <a:t>THEN MONTHLY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572414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AAEAE"/>
                </a:solidFill>
              </a:rPr>
              <a:t>£100 / $130 / €117 /month — maintenance + SEO + traffic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597103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A8080"/>
                </a:solidFill>
              </a:rPr>
              <a:t>Industry avg: £300+ /mo  ·  No contract, cancel any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56032"/>
            <a:ext cx="2560320" cy="219456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2423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3AAEAE"/>
                </a:solidFill>
              </a:rPr>
              <a:t>STAGE 06 · COMPLETION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1207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7F7"/>
                </a:solidFill>
              </a:rPr>
              <a:t>Post-Close, Onboarding &amp; Payment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143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9ABFBF"/>
                </a:solidFill>
              </a:rPr>
              <a:t>The close is not the finish line. Protect the sale · trigger delivery · collect payment.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08760"/>
            <a:ext cx="11365992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09344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DELIVERY PROCESS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IMMEDIATELY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Log sale in CRM · notify build team · 24-hour clock starts NOW.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2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SAME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30-min brief call with design team — brand, copy, domain, requirements.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1865376"/>
            <a:ext cx="3822191" cy="932688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57031" y="1865376"/>
            <a:ext cx="3822191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57031" y="1865376"/>
            <a:ext cx="420624" cy="932688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7" y="2011680"/>
            <a:ext cx="34747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AAEAE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1920240"/>
            <a:ext cx="31821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WITHIN 24H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9096" y="2157984"/>
            <a:ext cx="318211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BFBF"/>
                </a:solidFill>
              </a:rPr>
              <a:t>Build complete · client reviews · revisions · site goes live.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29260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AAEAE"/>
                </a:solidFill>
              </a:rPr>
              <a:t>PAYMENT COLLECTION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20040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320040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320040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32552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32369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AT CLOSE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345643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Issue invoice immediately — package + first monthly fee.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79476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379476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379476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" y="38496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05079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Full payment before or on the day the site goes live.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38912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438912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389120"/>
            <a:ext cx="36576" cy="521207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444398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425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INSTALMENT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464515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First payment at close. Schedule confirmed in writing.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73952" y="320040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73952" y="320040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73952" y="320040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01968" y="325526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67728" y="323697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1 LATE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67728" y="345643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Friendly reminder — confirming, not chasing.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73952" y="379476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73952" y="379476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73952" y="379476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01968" y="38496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67728" y="383133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67728" y="405079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Direct call — warm, professional, easy path to yes.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73952" y="4389120"/>
            <a:ext cx="5806440" cy="521207"/>
          </a:xfrm>
          <a:prstGeom prst="rect">
            <a:avLst/>
          </a:prstGeom>
          <a:solidFill>
            <a:srgbClr val="0F1A1A"/>
          </a:solidFill>
          <a:ln w="9525">
            <a:solidFill>
              <a:srgbClr val="1C2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73952" y="4389120"/>
            <a:ext cx="5806440" cy="36576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73952" y="4389120"/>
            <a:ext cx="36576" cy="521207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01968" y="4443983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AAEAE"/>
                </a:solidFill>
              </a:rPr>
              <a:t>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67728" y="4425696"/>
            <a:ext cx="1554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2B8E8E"/>
                </a:solidFill>
              </a:rPr>
              <a:t>DAY 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67728" y="4645152"/>
            <a:ext cx="5184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ABFBF"/>
                </a:solidFill>
              </a:rPr>
              <a:t>Formal written notice. 48-hour final deadline.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5102352"/>
            <a:ext cx="3822191" cy="1554480"/>
          </a:xfrm>
          <a:prstGeom prst="rect">
            <a:avLst/>
          </a:prstGeom>
          <a:solidFill>
            <a:srgbClr val="081E10"/>
          </a:solidFill>
          <a:ln w="952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11480" y="5102352"/>
            <a:ext cx="3822191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C55E"/>
                </a:solidFill>
              </a:rPr>
              <a:t>✅  Always 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Invoice same day as close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Confirm payment terms in writing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Lock in brief call before you leave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Log every interaction in CRM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43400" y="5102352"/>
            <a:ext cx="3822191" cy="1554480"/>
          </a:xfrm>
          <a:prstGeom prst="rect">
            <a:avLst/>
          </a:prstGeom>
          <a:solidFill>
            <a:srgbClr val="1E0808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343400" y="5102352"/>
            <a:ext cx="3822191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48056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</a:rPr>
              <a:t>⛔  Never Do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6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Hand over site before payment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8056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Leave without a defined next step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8056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Accept "call me when you're ready"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48056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Agree verbal-only instalment terms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275319" y="5102352"/>
            <a:ext cx="3822191" cy="1554480"/>
          </a:xfrm>
          <a:prstGeom prst="rect">
            <a:avLst/>
          </a:prstGeom>
          <a:solidFill>
            <a:srgbClr val="1E1604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275319" y="5102352"/>
            <a:ext cx="3822191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2480" y="519379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⚠️  If No Close Today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12480" y="554126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Lock in a specific date &amp; time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412480" y="581558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Send draft site link that evening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412480" y="608990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Send calendar invite from the car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412480" y="6364224"/>
            <a:ext cx="35478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ABFBF"/>
                </a:solidFill>
              </a:rPr>
              <a:t>• Vague next steps die — specific ones 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457200"/>
            <a:ext cx="32004" cy="91440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25712" y="713232"/>
            <a:ext cx="32004" cy="1078992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73184" y="969264"/>
            <a:ext cx="32004" cy="1243584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820656" y="1225296"/>
            <a:ext cx="32004" cy="1408176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68128" y="1481328"/>
            <a:ext cx="32004" cy="1572768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1737360"/>
            <a:ext cx="32004" cy="1737360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63072" y="1993392"/>
            <a:ext cx="32004" cy="1901952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10544" y="2249424"/>
            <a:ext cx="32004" cy="2066543"/>
          </a:xfrm>
          <a:prstGeom prst="rect">
            <a:avLst/>
          </a:prstGeom>
          <a:solidFill>
            <a:srgbClr val="3AA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13716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2004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41148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5029200"/>
            <a:ext cx="3474720" cy="6400"/>
          </a:xfrm>
          <a:prstGeom prst="rect">
            <a:avLst/>
          </a:prstGeom>
          <a:solidFill>
            <a:srgbClr val="1C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8640"/>
            <a:ext cx="658368" cy="658368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667512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EF7F7"/>
                </a:solidFill>
              </a:rPr>
              <a:t>VELA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192024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AAEAE"/>
                </a:solidFill>
              </a:rPr>
              <a:t>The Standard: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468880"/>
            <a:ext cx="8686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EF7F7"/>
                </a:solidFill>
              </a:rPr>
              <a:t>Signed. Invoiced. Brief call booked.
Site live in 24 hours.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ABFBF"/>
                </a:solidFill>
              </a:rPr>
              <a:t>That is what you're selling. That is exactly what you deliver.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389120"/>
            <a:ext cx="7498079" cy="7315"/>
          </a:xfrm>
          <a:prstGeom prst="rect">
            <a:avLst/>
          </a:prstGeom>
          <a:solidFill>
            <a:srgbClr val="2B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Stages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500+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Calls/wk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Closes/wk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AAEAE"/>
                </a:solidFill>
              </a:rPr>
              <a:t>24h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8080"/>
                </a:solidFill>
              </a:rPr>
              <a:t>To 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A8080"/>
                </a:solidFill>
              </a:rPr>
              <a:t>© 2026 Vela Sync Ltd · Co. No. 17051204 · Internal Sales Playbook — Confidential — Not for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