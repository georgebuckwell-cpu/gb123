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0" y="0"/>
            <a:ext cx="5330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0" y="365760"/>
            <a:ext cx="36576" cy="109728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1120" y="1828800"/>
            <a:ext cx="36576" cy="54864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235440" y="4114800"/>
            <a:ext cx="36576" cy="8229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09760" y="5486400"/>
            <a:ext cx="36576" cy="3657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914400"/>
            <a:ext cx="2286000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2286000"/>
            <a:ext cx="3200400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3657600"/>
            <a:ext cx="1828800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5029200"/>
            <a:ext cx="2743200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502920"/>
            <a:ext cx="640080" cy="64008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029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594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371600"/>
            <a:ext cx="3291840" cy="2286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399032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INTERNAL OPERATIONS · CONFIDENTIAL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737360"/>
            <a:ext cx="5943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EEF7F7"/>
                </a:solidFill>
              </a:rPr>
              <a:t>The Complete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423160"/>
            <a:ext cx="5943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3AAEAE"/>
                </a:solidFill>
              </a:rPr>
              <a:t>Sales Process.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4290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ABFBF"/>
                </a:solidFill>
              </a:rPr>
              <a:t>8 stages · zero ambiguity · one system to close every room.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023360"/>
            <a:ext cx="5029200" cy="91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2062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70916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Process Stages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2062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£450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0916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Entry Package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80" y="42062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24h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70916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Live After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59" y="42062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77%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59" y="470916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SMEs Without Web Strategy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B8E8E"/>
                </a:solidFill>
              </a:rPr>
              <a:t>01 → 02 → 03 → 04 → 05 → 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0" y="3520440"/>
            <a:ext cx="3931920" cy="32004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356616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EF7F7"/>
                </a:solidFill>
              </a:rPr>
              <a:t>01  Onboarding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0" y="3959352"/>
            <a:ext cx="3931920" cy="32004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09560" y="400507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02  Pre-Meeting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4398264"/>
            <a:ext cx="3931920" cy="32004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09560" y="444398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03  Discovery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837176"/>
            <a:ext cx="3931920" cy="32004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09560" y="488289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04  Reveal &amp; Pitch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0" y="5276088"/>
            <a:ext cx="3931920" cy="32004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09560" y="5321807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05  Objection &amp; Close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0" y="5715000"/>
            <a:ext cx="3931920" cy="32004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09560" y="576072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06  Post-Close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74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AAEAE"/>
                </a:solidFill>
              </a:rPr>
              <a:t>PIPELINE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029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EF7F7"/>
                </a:solidFill>
              </a:rPr>
              <a:t>Full Process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11338560" cy="91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1298448" cy="164592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1298448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08760"/>
            <a:ext cx="12984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AAEAE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874519"/>
            <a:ext cx="1298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EF7F7"/>
                </a:solidFill>
              </a:rPr>
              <a:t>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221992"/>
            <a:ext cx="1298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EF7F7"/>
                </a:solidFill>
              </a:rPr>
              <a:t>Advisor
Onboarding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07208"/>
            <a:ext cx="12984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2B8E8E"/>
                </a:solidFill>
              </a:rPr>
              <a:t>FOUNDATION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09928" y="2231136"/>
            <a:ext cx="164592" cy="1828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01368" y="21031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74520" y="1417320"/>
            <a:ext cx="1298448" cy="16459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74520" y="1417320"/>
            <a:ext cx="1298448" cy="36576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74520" y="1508760"/>
            <a:ext cx="12984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AAEAE"/>
                </a:solidFill>
              </a:rPr>
              <a:t>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1874519"/>
            <a:ext cx="1298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EF7F7"/>
                </a:solidFill>
              </a:rPr>
              <a:t>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20" y="2221992"/>
            <a:ext cx="1298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EF7F7"/>
                </a:solidFill>
              </a:rPr>
              <a:t>Weekly
Cadence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20" y="2807208"/>
            <a:ext cx="12984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2B8E8E"/>
                </a:solidFill>
              </a:rPr>
              <a:t>RHYTHM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72968" y="2231136"/>
            <a:ext cx="164592" cy="1828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64408" y="21031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1417320"/>
            <a:ext cx="1298448" cy="164592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37560" y="1417320"/>
            <a:ext cx="1298448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7560" y="1508760"/>
            <a:ext cx="12984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AAEAE"/>
                </a:solidFill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1874519"/>
            <a:ext cx="1298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EF7F7"/>
                </a:solidFill>
              </a:rPr>
              <a:t>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2221992"/>
            <a:ext cx="1298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EF7F7"/>
                </a:solidFill>
              </a:rPr>
              <a:t>Pre-Meeting
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7560" y="2807208"/>
            <a:ext cx="12984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2B8E8E"/>
                </a:solidFill>
              </a:rPr>
              <a:t>PREP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2231136"/>
            <a:ext cx="164592" cy="1828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27448" y="21031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00600" y="1417320"/>
            <a:ext cx="1298448" cy="16459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800600" y="1417320"/>
            <a:ext cx="1298448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0600" y="1508760"/>
            <a:ext cx="12984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AAEAE"/>
                </a:solidFill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600" y="1874519"/>
            <a:ext cx="1298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EF7F7"/>
                </a:solidFill>
              </a:rPr>
              <a:t>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0" y="2221992"/>
            <a:ext cx="1298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EF7F7"/>
                </a:solidFill>
              </a:rPr>
              <a:t>Discovery
Call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600" y="2807208"/>
            <a:ext cx="12984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2B8E8E"/>
                </a:solidFill>
              </a:rPr>
              <a:t>QUALIFY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9048" y="2231136"/>
            <a:ext cx="164592" cy="1828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0488" y="21031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1417320"/>
            <a:ext cx="1298448" cy="164592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63640" y="1417320"/>
            <a:ext cx="1298448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63640" y="1508760"/>
            <a:ext cx="12984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AAEAE"/>
                </a:solidFill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1874519"/>
            <a:ext cx="1298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EF7F7"/>
                </a:solidFill>
              </a:rPr>
              <a:t>👁️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2221992"/>
            <a:ext cx="1298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EF7F7"/>
                </a:solidFill>
              </a:rPr>
              <a:t>Reveal
&amp; Pitch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63640" y="2807208"/>
            <a:ext cx="12984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2B8E8E"/>
                </a:solidFill>
              </a:rPr>
              <a:t>PRESENT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62088" y="2231136"/>
            <a:ext cx="164592" cy="1828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53527" y="21031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26679" y="1417320"/>
            <a:ext cx="1298448" cy="16459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26679" y="1417320"/>
            <a:ext cx="1298448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26679" y="1508760"/>
            <a:ext cx="12984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AAEAE"/>
                </a:solidFill>
              </a:rPr>
              <a:t>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26679" y="1874519"/>
            <a:ext cx="1298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EF7F7"/>
                </a:solidFill>
              </a:rPr>
              <a:t>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26679" y="2221992"/>
            <a:ext cx="1298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EF7F7"/>
                </a:solidFill>
              </a:rPr>
              <a:t>Objection
&amp; Close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26679" y="2807208"/>
            <a:ext cx="12984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2B8E8E"/>
                </a:solidFill>
              </a:rPr>
              <a:t>CONVERT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25128" y="2231136"/>
            <a:ext cx="164592" cy="1828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16567" y="21031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89720" y="1417320"/>
            <a:ext cx="1298448" cy="164592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189720" y="1417320"/>
            <a:ext cx="1298448" cy="36576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89720" y="1508760"/>
            <a:ext cx="12984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AAEAE"/>
                </a:solidFill>
              </a:rPr>
              <a:t>£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89720" y="1874519"/>
            <a:ext cx="1298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EF7F7"/>
                </a:solidFill>
              </a:rPr>
              <a:t>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89720" y="2221992"/>
            <a:ext cx="1298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EF7F7"/>
                </a:solidFill>
              </a:rPr>
              <a:t>Pricing
Structure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89720" y="2807208"/>
            <a:ext cx="12984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2B8E8E"/>
                </a:solidFill>
              </a:rPr>
              <a:t>SELL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88168" y="2231136"/>
            <a:ext cx="164592" cy="1828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79608" y="21031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652760" y="1417320"/>
            <a:ext cx="1298448" cy="16459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652760" y="1417320"/>
            <a:ext cx="1298448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652760" y="1508760"/>
            <a:ext cx="12984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AAEAE"/>
                </a:solidFill>
              </a:rPr>
              <a:t>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52760" y="1874519"/>
            <a:ext cx="1298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EF7F7"/>
                </a:solidFill>
              </a:rPr>
              <a:t>✅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52760" y="2221992"/>
            <a:ext cx="1298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EF7F7"/>
                </a:solidFill>
              </a:rPr>
              <a:t>Post-Close
&amp; Payment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2807208"/>
            <a:ext cx="12984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2B8E8E"/>
                </a:solidFill>
              </a:rPr>
              <a:t>COMPLETE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97280" y="589788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AAEAE"/>
                </a:solidFill>
              </a:rPr>
              <a:t>500+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7280" y="6355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8080"/>
                </a:solidFill>
              </a:rPr>
              <a:t>Calls / week per advisor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0480" y="589788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AAEAE"/>
                </a:solidFill>
              </a:rPr>
              <a:t>5+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40480" y="6355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8080"/>
                </a:solidFill>
              </a:rPr>
              <a:t>Closes / week minimum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83680" y="589788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AAEAE"/>
                </a:solidFill>
              </a:rPr>
              <a:t>24h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0" y="6355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8080"/>
                </a:solidFill>
              </a:rPr>
              <a:t>From close to live website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0" y="589788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AAEAE"/>
                </a:solidFill>
              </a:rPr>
              <a:t>£450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326880" y="6355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8080"/>
                </a:solidFill>
              </a:rPr>
              <a:t>Entry package · no contract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011680" cy="2286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8346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STAGE 01 ·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029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Advisor Onboarding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97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BFBF"/>
                </a:solidFill>
              </a:rPr>
              <a:t>Know the product. Know the tools. Know the numbers. Master these before you speak to anyone.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38560" cy="91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91640"/>
            <a:ext cx="3566160" cy="14630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91640"/>
            <a:ext cx="3566160" cy="4572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7830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EF7F7"/>
                </a:solidFill>
              </a:rPr>
              <a:t>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Product Mastery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76272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Know every package &amp; price cold.
£450 / £650 setup · £50 / £100 /mo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91640"/>
            <a:ext cx="3566160" cy="14630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691640"/>
            <a:ext cx="3566160" cy="4572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7830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EF7F7"/>
                </a:solidFill>
              </a:rPr>
              <a:t>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Tools &amp; Assets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176272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Lead list · Demo site · Scripts
Objection guides · CRM access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1691640"/>
            <a:ext cx="3566160" cy="14630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1691640"/>
            <a:ext cx="3566160" cy="4572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7830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EF7F7"/>
                </a:solidFill>
              </a:rPr>
              <a:t>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Targets &amp; KPIs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176272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500 outbound calls / week
5 closed sales / week minimum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291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AAEAE"/>
                </a:solidFill>
              </a:rPr>
              <a:t>THE SIX RULES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611880"/>
            <a:ext cx="3474720" cy="11887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" y="37490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7216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You are the expert. Act like it.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0690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Confidence is not optional.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0520" y="3611880"/>
            <a:ext cx="3474720" cy="11887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70248" y="37490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37216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Silence is a weapon.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40690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After every powerful close — stop talking.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09560" y="3611880"/>
            <a:ext cx="3474720" cy="11887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19288" y="37490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37216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Diagnose before you prescribe.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0690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Ask before you pitch. Always.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937760"/>
            <a:ext cx="3474720" cy="11887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208" y="5074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04748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Speak in outcomes, not features.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3949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They care about customers, not animations.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0520" y="4937760"/>
            <a:ext cx="3474720" cy="11887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70248" y="5074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504748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Frame everything as ROI.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0" y="53949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Every price is an investment.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09560" y="4937760"/>
            <a:ext cx="3474720" cy="11887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19288" y="5074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504748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Show, don't tell.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53949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Open the draft site silently. Let them sell themselves.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011680" cy="2286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8346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TEAM CADENCE · WEEKLY RHYTHM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029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Weekly Schedule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70432"/>
            <a:ext cx="11338560" cy="91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176272" cy="356616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325880"/>
            <a:ext cx="2176272" cy="5486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19933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MON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" y="1783080"/>
            <a:ext cx="1956815" cy="109728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74519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AAEAE"/>
                </a:solidFill>
              </a:rPr>
              <a:t>11:00 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130552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EF7F7"/>
                </a:solidFill>
              </a:rPr>
              <a:t>Diary Alignment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1208" y="3063239"/>
            <a:ext cx="1956815" cy="109728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54679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410711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EF7F7"/>
                </a:solidFill>
              </a:rPr>
              <a:t>KPI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1325880"/>
            <a:ext cx="2176272" cy="356616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0" y="1325880"/>
            <a:ext cx="2176272" cy="54864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0" y="1417320"/>
            <a:ext cx="19933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A8080"/>
                </a:solidFill>
              </a:rPr>
              <a:t>TUE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52928" y="1783080"/>
            <a:ext cx="1956815" cy="109728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0" y="1874519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2130552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74920" y="1325880"/>
            <a:ext cx="2176272" cy="356616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74920" y="1325880"/>
            <a:ext cx="2176272" cy="54864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66359" y="1417320"/>
            <a:ext cx="19933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A8080"/>
                </a:solidFill>
              </a:rPr>
              <a:t>WED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84648" y="1783080"/>
            <a:ext cx="1956815" cy="109728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57800" y="1874519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2130552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1325880"/>
            <a:ext cx="2176272" cy="356616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06640" y="1325880"/>
            <a:ext cx="2176272" cy="54864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79" y="1417320"/>
            <a:ext cx="19933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THU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16367" y="1783080"/>
            <a:ext cx="1956815" cy="109728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19" y="1874519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19" y="2130552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EF7F7"/>
                </a:solidFill>
              </a:rPr>
              <a:t>Weekly Forward Planning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16367" y="3063239"/>
            <a:ext cx="1956815" cy="109728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89519" y="3154679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19" y="3410711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38359" y="1325880"/>
            <a:ext cx="2176272" cy="356616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38359" y="1325880"/>
            <a:ext cx="2176272" cy="54864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29799" y="1417320"/>
            <a:ext cx="19933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A8080"/>
                </a:solidFill>
              </a:rPr>
              <a:t>FRI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48087" y="1783080"/>
            <a:ext cx="1956815" cy="109728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21239" y="1874519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39" y="2130552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02920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AAEAE"/>
                </a:solidFill>
              </a:rPr>
              <a:t>RECURRING COMMITMENTS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321808"/>
            <a:ext cx="3566160" cy="1234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541324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EF7F7"/>
                </a:solidFill>
              </a:rPr>
              <a:t>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3949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AAEAE"/>
                </a:solidFill>
              </a:rPr>
              <a:t>24/7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" y="5760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MD Direct Line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51960" y="5321808"/>
            <a:ext cx="3566160" cy="1234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0" y="541324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EF7F7"/>
                </a:solidFill>
              </a:rPr>
              <a:t>🎯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7760" y="53949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AAEAE"/>
                </a:solidFill>
              </a:rPr>
              <a:t>2W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0" y="5760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Bi-Weekly 1:1s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92440" y="5321808"/>
            <a:ext cx="3566160" cy="1234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0" y="541324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EF7F7"/>
                </a:solidFill>
              </a:rPr>
              <a:t>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53949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AAEAE"/>
                </a:solidFill>
              </a:rPr>
              <a:t>1Y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78240" y="5760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Personal Dev 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011680" cy="2286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8346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TEAM CADENCE · KPI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02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EF7F7"/>
                </a:solidFill>
              </a:rPr>
              <a:t>What Gets Measured, Gets Managed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70432"/>
            <a:ext cx="11338560" cy="91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3756" y="1371600"/>
            <a:ext cx="2743200" cy="1234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3756" y="1371600"/>
            <a:ext cx="27432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" y="1463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F7F7"/>
                </a:solidFill>
              </a:rPr>
              <a:t>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" y="146304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2B8E8E"/>
                </a:solidFill>
              </a:rPr>
              <a:t>CORE KPI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" y="182880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Outbound Calls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" y="2121408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AAEAE"/>
                </a:solidFill>
              </a:rPr>
              <a:t>500+ / week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" y="2331720"/>
            <a:ext cx="2523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The non-negotiable foundation.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59836" y="1371600"/>
            <a:ext cx="2743200" cy="1234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59836" y="1371600"/>
            <a:ext cx="27432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9564" y="1463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F7F7"/>
                </a:solidFill>
              </a:rPr>
              <a:t>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8476" y="146304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2B8E8E"/>
                </a:solidFill>
              </a:rPr>
              <a:t>CORE KPI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9564" y="182880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Conversion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9564" y="2121408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AAEAE"/>
                </a:solidFill>
              </a:rPr>
              <a:t>5+ closes / week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9564" y="2331720"/>
            <a:ext cx="2523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Tracks pitch quality &amp; close technique.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1371600"/>
            <a:ext cx="2743200" cy="1234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85916" y="1371600"/>
            <a:ext cx="27432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5644" y="1463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F7F7"/>
                </a:solidFill>
              </a:rPr>
              <a:t>⏱️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4556" y="146304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2B8E8E"/>
                </a:solidFill>
              </a:rPr>
              <a:t>CORE KPI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5644" y="182880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Time on the Phone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5644" y="2121408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AAEAE"/>
                </a:solidFill>
              </a:rPr>
              <a:t>Maximise daily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5644" y="2331720"/>
            <a:ext cx="2523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Low talk time = too many hang-ups.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11996" y="1371600"/>
            <a:ext cx="2743200" cy="1234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11996" y="1371600"/>
            <a:ext cx="27432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21724" y="1463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F7F7"/>
                </a:solidFill>
              </a:rPr>
              <a:t>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60636" y="146304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2B8E8E"/>
                </a:solidFill>
              </a:rPr>
              <a:t>REVENUE KPI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1724" y="182880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Revenue Generated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21724" y="2121408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AAEAE"/>
                </a:solidFill>
              </a:rPr>
              <a:t>Weekly &amp; monthly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21724" y="2331720"/>
            <a:ext cx="2523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Setup fees + first month recurring.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3756" y="2770632"/>
            <a:ext cx="2743200" cy="1234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3756" y="2770632"/>
            <a:ext cx="27432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3484" y="28620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F7F7"/>
                </a:solidFill>
              </a:rPr>
              <a:t>🏷️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396" y="2862072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2B8E8E"/>
                </a:solidFill>
              </a:rPr>
              <a:t>REVENUE KPI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484" y="3227832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Average Deal Value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" y="3520440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AAEAE"/>
                </a:solidFill>
              </a:rPr>
              <a:t>£450 – £650 target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484" y="3730752"/>
            <a:ext cx="2523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Tracks upsell to SEO package.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59836" y="2770632"/>
            <a:ext cx="2743200" cy="1234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59836" y="2770632"/>
            <a:ext cx="27432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69564" y="28620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F7F7"/>
                </a:solidFill>
              </a:rPr>
              <a:t>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08476" y="2862072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2B8E8E"/>
                </a:solidFill>
              </a:rPr>
              <a:t>PIPELINE KPI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69564" y="3227832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Follow-Up 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69564" y="3520440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AAEAE"/>
                </a:solidFill>
              </a:rPr>
              <a:t>100% warm leads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9564" y="3730752"/>
            <a:ext cx="2523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No warm lead should go cold.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85916" y="2770632"/>
            <a:ext cx="2743200" cy="1234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5916" y="2770632"/>
            <a:ext cx="27432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5644" y="28620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F7F7"/>
                </a:solidFill>
              </a:rPr>
              <a:t>📊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34556" y="2862072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2B8E8E"/>
                </a:solidFill>
              </a:rPr>
              <a:t>PIPELINE KPI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95644" y="3227832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Pipeline Value (WTD)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5644" y="3520440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AAEAE"/>
                </a:solidFill>
              </a:rPr>
              <a:t>Reviewed Thursday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95644" y="3730752"/>
            <a:ext cx="2523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Is the weekly close target reachable?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11996" y="2770632"/>
            <a:ext cx="2743200" cy="1234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11996" y="2770632"/>
            <a:ext cx="27432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21724" y="28620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F7F7"/>
                </a:solidFill>
              </a:rPr>
              <a:t>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60636" y="2862072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2B8E8E"/>
                </a:solidFill>
              </a:rPr>
              <a:t>RETENTION KPI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21724" y="3227832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Monthly Retention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21724" y="3520440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AAEAE"/>
                </a:solidFill>
              </a:rPr>
              <a:t>Maximise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21724" y="3730752"/>
            <a:ext cx="2523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Validates value delivered post-close.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011680" cy="2286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8346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STAGE 02 ·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029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Pre-Meeting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1556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BFBF"/>
                </a:solidFill>
              </a:rPr>
              <a:t>10 minutes before every meeting. Walk in knowing their problem before they've said a word.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38560" cy="91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91640"/>
            <a:ext cx="2651760" cy="256032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91640"/>
            <a:ext cx="2651760" cy="4572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288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187451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2B8E8E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Google Them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4320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ABFBF"/>
                </a:solidFill>
              </a:rPr>
              <a:t>Search the business name. What comes up? Do they rank? Do they appear at all?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1691640"/>
            <a:ext cx="2651760" cy="256032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46120" y="1691640"/>
            <a:ext cx="2651760" cy="4572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18288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187451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2B8E8E"/>
                </a:solidFill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359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Check Their Site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274320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ABFBF"/>
                </a:solidFill>
              </a:rPr>
              <a:t>If they have one — is it mobile-friendly? Fast? Does it convert, or is it a liability?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1691640"/>
            <a:ext cx="2651760" cy="256032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60" y="1691640"/>
            <a:ext cx="2651760" cy="4572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18288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187451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2B8E8E"/>
                </a:solidFill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359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Google Maps Rating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74320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ABFBF"/>
                </a:solidFill>
              </a:rPr>
              <a:t>Low score = reputation problem. No reviews = visibility problem. You solve both.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15400" y="1691640"/>
            <a:ext cx="2651760" cy="256032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15400" y="1691640"/>
            <a:ext cx="2651760" cy="4572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98280" y="18288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⚔️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7080" y="187451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2B8E8E"/>
                </a:solidFill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2359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Competitor Audit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274320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ABFBF"/>
                </a:solidFill>
              </a:rPr>
              <a:t>Find their top 3 local competitors. Check their presence. Use this to create urgency.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434840"/>
            <a:ext cx="11365992" cy="1234440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" y="4434840"/>
            <a:ext cx="45720" cy="123444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50799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OPENING 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736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BFBF"/>
                </a:solidFill>
              </a:rPr>
              <a:t>"I had a look at your business before coming in today. I noticed a few things I wanted to talk to you about — but first, tell me how business has been. Are you getting as many new customers as you want?"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06440"/>
            <a:ext cx="11365992" cy="822960"/>
          </a:xfrm>
          <a:prstGeom prst="rect">
            <a:avLst/>
          </a:prstGeom>
          <a:solidFill>
            <a:srgbClr val="2A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06440"/>
            <a:ext cx="45720" cy="8229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87171"/>
                </a:solidFill>
              </a:rPr>
              <a:t>⛔  Never open with the product. Open with their world — not yours. The product comes third.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011680" cy="2286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8346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STAGE 03 · QUALIFICATION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029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6 Discovery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1556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BFBF"/>
                </a:solidFill>
              </a:rPr>
              <a:t>Ask in sequence · Listen deeply · Take notes visibly. Their answers give you everything you need to close.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38560" cy="91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548640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64208"/>
            <a:ext cx="36576" cy="74980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73736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17373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CURRENT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97510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"When a potential customer Googles you right now — what do they find?"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212848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Forces them to confront their digital reality.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664208"/>
            <a:ext cx="548640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664208"/>
            <a:ext cx="36576" cy="74980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73736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17373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AWARENESS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97510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"How are most of your customers finding you at the moment?"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212848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Exposes over-reliance on referrals or word-of-mouth.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523744"/>
            <a:ext cx="548640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2523744"/>
            <a:ext cx="36576" cy="74980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59689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25968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COMPETITION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834639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"Have you looked at what your top three competitors are doing online recently?"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07238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Creates competitive anxiety and urgency.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523744"/>
            <a:ext cx="548640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2523744"/>
            <a:ext cx="36576" cy="74980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259689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4848" y="25968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REVENUE IMPACT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2834639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"76% of people research online before making contact — what does that mean for customers you're missing?"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307238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Forces them to calculate lost revenue themselves.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383280"/>
            <a:ext cx="548640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" y="3383280"/>
            <a:ext cx="36576" cy="74980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45643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345643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PREVIOUS EXPERIENCE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69417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"Have you ever tried to get a website built before? What happened?"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931920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Surfaces their war story. Positions you as the antidote.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3383280"/>
            <a:ext cx="5486400" cy="749808"/>
          </a:xfrm>
          <a:prstGeom prst="rect">
            <a:avLst/>
          </a:prstGeom>
          <a:solidFill>
            <a:srgbClr val="152620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60" y="3383280"/>
            <a:ext cx="36576" cy="749808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345643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4848" y="345643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2C55E"/>
                </a:solidFill>
              </a:rPr>
              <a:t>FUTURE VISION 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69417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"If your digital presence was exactly where you wanted it — what would that look like?"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3931920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Most powerful question. Gets them to paint their own success picture.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79008"/>
            <a:ext cx="11365992" cy="841248"/>
          </a:xfrm>
          <a:prstGeom prst="rect">
            <a:avLst/>
          </a:prstGeom>
          <a:solidFill>
            <a:srgbClr val="1A1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1480" y="5779008"/>
            <a:ext cx="45720" cy="8412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5897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D060"/>
                </a:solidFill>
              </a:rPr>
              <a:t>💡  After all six questions, feed their answers back verbatim: "So if I've understood you correctly..." — validates their concerns, amplifies the pain, and sets up your pitch. Never skip this 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011680" cy="2286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8346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STAGE 04 ·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029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The Reveal &amp;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1556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BFBF"/>
                </a:solidFill>
              </a:rPr>
              <a:t>Bridge their pain · Show the site silently · Anchor high, land low. The emotional sale is made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38560" cy="91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3566160" cy="182880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64208"/>
            <a:ext cx="3566160" cy="5486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7830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181051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STEP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30428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Bridge the Pain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2688336"/>
            <a:ext cx="32461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Summarise their answers in one statement.
Make them feel heard before you reveal the solution.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664208"/>
            <a:ext cx="3566160" cy="182880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1664208"/>
            <a:ext cx="3566160" cy="5486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6552" y="17830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👁️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01768" y="181051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STEP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230428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The Silent Show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6552" y="2688336"/>
            <a:ext cx="32461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Open the draft site. Say nothing. Scroll slowly.
When they lean in — that's your pivot. Sale is made here.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1664208"/>
            <a:ext cx="3566160" cy="182880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1664208"/>
            <a:ext cx="3566160" cy="5486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17830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⚖️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2248" y="181051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STEP 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1" y="230428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Anchor High, Land 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031" y="2688336"/>
            <a:ext cx="32461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Never open with £450. Anchor to £2,000+.
Then reveal your number. The contrast does the selling.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639312"/>
            <a:ext cx="11365992" cy="713232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639312"/>
            <a:ext cx="45720" cy="71323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70332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PRICE REVEAL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904487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EEF7F7"/>
                </a:solidFill>
              </a:rPr>
              <a:t>"A website of this quality from a traditional agency — you're looking at £2,000 minimum. We charge £450. And you're live within 24 hours. Not a week. Not a month. Tomorrow."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448056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2C55E"/>
                </a:solidFill>
              </a:rPr>
              <a:t>BUYING SIGNALS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754880"/>
            <a:ext cx="5394960" cy="1874519"/>
          </a:xfrm>
          <a:prstGeom prst="rect">
            <a:avLst/>
          </a:prstGeom>
          <a:solidFill>
            <a:srgbClr val="0A201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8280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"That looks really good"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17550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Leans toward the screen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52297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Asks logistics questions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58704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"Can you do it in our colours?"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217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Looks at a colleague for approval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9320" y="448056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</a:rPr>
              <a:t>PROCEED WITH CAUTION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4754880"/>
            <a:ext cx="5788152" cy="1874519"/>
          </a:xfrm>
          <a:prstGeom prst="rect">
            <a:avLst/>
          </a:prstGeom>
          <a:solidFill>
            <a:srgbClr val="201805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72200" y="482803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Arms crossed, leaning back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200" y="5175504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"We'd need to talk to our accountant"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5522976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"We'll think about it"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587044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Checking their phone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72200" y="621792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Repeated glances at the door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011680" cy="2286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8346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STAGE 05 · CONVERSION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02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EF7F7"/>
                </a:solidFill>
              </a:rPr>
              <a:t>Objection Handling &amp; The Close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155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BFBF"/>
                </a:solidFill>
              </a:rPr>
              <a:t>Every objection is a question in disguise. Acknowledge · Reframe · Advance.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481328"/>
            <a:ext cx="11338560" cy="91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0020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AAEAE"/>
                </a:solidFill>
              </a:rPr>
              <a:t>COMMON OBJECTIONS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01952"/>
            <a:ext cx="5669280" cy="676656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901952"/>
            <a:ext cx="36576" cy="67665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56816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already have a website."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212848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Is it ranking? Is it bringing in enquiries — or just a digital brochure?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651760"/>
            <a:ext cx="5669280" cy="676656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651760"/>
            <a:ext cx="36576" cy="67665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706624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"£450 seems too cheap."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962656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You've just seen it. That is the quality. Enterprise engineers, zero overhead.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401568"/>
            <a:ext cx="5669280" cy="676656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401568"/>
            <a:ext cx="36576" cy="67665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456432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need to think about it."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712463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What specifically? Name the real objection. Then stop talking.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151376"/>
            <a:ext cx="5669280" cy="676656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151376"/>
            <a:ext cx="36576" cy="67665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0624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want a few quotes first."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462272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Equivalent quality starts at £2,000+. Come back — we'll beat any quote.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901183"/>
            <a:ext cx="5669280" cy="676656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4901183"/>
            <a:ext cx="36576" cy="67665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956047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had a bad experience before."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212079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"Tell me what happened." Listen fully. Vela Sync was built because of that gap.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5650992"/>
            <a:ext cx="5669280" cy="676656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5650992"/>
            <a:ext cx="36576" cy="67665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705855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"We're not sure about the monthly."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61888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£50/mo is insurance on a £450 asset. Easiest decision in this conversation.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160020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AAEAE"/>
                </a:solidFill>
              </a:rPr>
              <a:t>CLOSE TECHNIQUES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901952"/>
            <a:ext cx="5486400" cy="804672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1901952"/>
            <a:ext cx="36576" cy="804672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196596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Assumptive Close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2231136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Assumes the sale. Moves to logistics.
"What's the domain name you're using?"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2779776"/>
            <a:ext cx="5486400" cy="804672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60" y="2779776"/>
            <a:ext cx="36576" cy="804672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84378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Investment Frame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3108960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Forces them to calculate ROI.
"If it brings one extra customer — what's that worth?"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657600"/>
            <a:ext cx="5486400" cy="804672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09360" y="3657600"/>
            <a:ext cx="36576" cy="804672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6520" y="372160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Urgency Close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46520" y="3986784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Someone is searching for you RIGHT NOW.
"What's stopping us doing this today?" — then silence.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4535424"/>
            <a:ext cx="5486400" cy="804672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09360" y="4535424"/>
            <a:ext cx="36576" cy="804672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46520" y="459943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Option Close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4864608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Removes yes/no. Both options are a yes.
"£450 standard or £650 SEO — which feels right?"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5413248"/>
            <a:ext cx="5486400" cy="804672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09360" y="5413248"/>
            <a:ext cx="36576" cy="804672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46520" y="547725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Instalment Close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742432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Removes the financial barrier.
"Get it live tomorrow, pay on a schedule that suits you."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6291072"/>
            <a:ext cx="11365992" cy="438912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633679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"What that means for your business is..."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83280" y="633679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"The question isn't whether — it's when."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633679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"This isn't a cost. It's a decision."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633679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"Every day you wait is a day your competitor doesn't."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011680" cy="2286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8346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PRICING STRUCTURE · KNOW THESE COLD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029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What You're Selling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1556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BFBF"/>
                </a:solidFill>
              </a:rPr>
              <a:t>Two packages. Two monthly tiers. The price contrast vs the market is your single most powerful tool.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38560" cy="91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91640"/>
            <a:ext cx="5394960" cy="47548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288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AAEAE"/>
                </a:solidFill>
              </a:rPr>
              <a:t>STANDARD PACKAGE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84831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EEF7F7"/>
                </a:solidFill>
              </a:rPr>
              <a:t>£450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88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AAEAE"/>
                </a:solidFill>
              </a:rPr>
              <a:t>$575  ·  €525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1752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One-off · Live within 24 hours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310128"/>
            <a:ext cx="4937760" cy="91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4290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Professional, mobile-responsive website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70332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Personalised to client's brand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77639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Domain activation or transfer included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2519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SSL, on-page SEO &amp; performance optimisation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52628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Client reviews before anything goes 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8006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Full access credentials handed over on the 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07492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Instalments available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5440680"/>
            <a:ext cx="5029200" cy="749808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046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THEN MONTHLY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705856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EF7F7"/>
                </a:solidFill>
              </a:rPr>
              <a:t>£50 / $65 / €58  /month — site maintenance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61888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Industry avg: £150+/mo   ·   Cancel any time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1691640"/>
            <a:ext cx="5788152" cy="475488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89320" y="1691640"/>
            <a:ext cx="5788152" cy="54864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92640" y="1755648"/>
            <a:ext cx="1737360" cy="25603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0" y="1773936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BEST VALUE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18288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AAEAE"/>
                </a:solidFill>
              </a:rPr>
              <a:t>SEO &amp; GROWTH PACKAGE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2084831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3AAEAE"/>
                </a:solidFill>
              </a:rPr>
              <a:t>£650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2788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AAEAE"/>
                </a:solidFill>
              </a:rPr>
              <a:t>$825  ·  €760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01752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One-off · Everything in Standard, plus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3310128"/>
            <a:ext cx="5212080" cy="91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72200" y="342900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Everything in Standard Package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68046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Marketing team briefed at point of launch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393192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Live traffic strategy handed over day one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418338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Growth roadmap tailored to business goals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443484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SEO foundations built for immediate indexing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72200" y="468630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ML-backed digital strategy from day one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200" y="493776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Save up to £1,550 vs average agency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518922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Instalments available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2200" y="5440680"/>
            <a:ext cx="5394960" cy="749808"/>
          </a:xfrm>
          <a:prstGeom prst="rect">
            <a:avLst/>
          </a:prstGeom>
          <a:solidFill>
            <a:srgbClr val="18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9360" y="55046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THEN MONTHLY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570585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AAEAE"/>
                </a:solidFill>
              </a:rPr>
              <a:t>£100 / $130 / €117  /month — maintenance + SEO + traffic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5961888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Industry avg: £300+/mo   ·   No contract, cancel any time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011680" cy="2286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8346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STAGE 06 · COMPLETION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02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EF7F7"/>
                </a:solidFill>
              </a:rPr>
              <a:t>Post-Close, Onboarding &amp; Payment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1556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BFBF"/>
                </a:solidFill>
              </a:rPr>
              <a:t>The close is not the finish line. Protect the sale · trigger delivery · collect payment.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481328"/>
            <a:ext cx="11338560" cy="91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2763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AAEAE"/>
                </a:solidFill>
              </a:rPr>
              <a:t>DELIVERY PROCESS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20240"/>
            <a:ext cx="5394960" cy="96012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920240"/>
            <a:ext cx="53949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176272"/>
            <a:ext cx="457200" cy="4572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94560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AAEAE"/>
                </a:solidFill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011680"/>
            <a:ext cx="4389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E8E"/>
                </a:solidFill>
              </a:rPr>
              <a:t>IMMEDIATELY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267712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ABFBF"/>
                </a:solidFill>
              </a:rPr>
              <a:t>Log sale · notify build team. 24h clock starts NOW.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999232"/>
            <a:ext cx="5394960" cy="96012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2999232"/>
            <a:ext cx="53949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255264"/>
            <a:ext cx="457200" cy="4572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273552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AAEAE"/>
                </a:solidFill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090672"/>
            <a:ext cx="4389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E8E"/>
                </a:solidFill>
              </a:rPr>
              <a:t>SAME 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3346704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ABFBF"/>
                </a:solidFill>
              </a:rPr>
              <a:t>30-min brief call — brand, copy, domain, requirements.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078224"/>
            <a:ext cx="5394960" cy="96012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078224"/>
            <a:ext cx="53949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334256"/>
            <a:ext cx="457200" cy="4572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352544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AAEAE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4169663"/>
            <a:ext cx="4389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E8E"/>
                </a:solidFill>
              </a:rPr>
              <a:t>WITHIN 24H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425696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ABFBF"/>
                </a:solidFill>
              </a:rPr>
              <a:t>Build complete · client reviews · site goes live.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16276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AAEAE"/>
                </a:solidFill>
              </a:rPr>
              <a:t>PAYMENT COLLECTION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1920240"/>
            <a:ext cx="5788152" cy="621792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0760" y="1920240"/>
            <a:ext cx="36576" cy="62179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201168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AAEAE"/>
                </a:solidFill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65392" y="198424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AT CLOSE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21945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Issue invoice immediately — package + monthly fee.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2624328"/>
            <a:ext cx="5788152" cy="621792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80760" y="2624328"/>
            <a:ext cx="36576" cy="62179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2200" y="2715768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AAEAE"/>
                </a:solidFill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5392" y="268833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STANDARD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65392" y="289864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Full payment before or on site delivery day.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328416"/>
            <a:ext cx="5788152" cy="621792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3328416"/>
            <a:ext cx="36576" cy="62179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72200" y="3419856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AAEAE"/>
                </a:solidFill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65392" y="339242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INSTALMENT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65392" y="360273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First payment at close. Schedule confirmed in writing.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80760" y="4032504"/>
            <a:ext cx="5788152" cy="621792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80760" y="4032504"/>
            <a:ext cx="36576" cy="62179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72200" y="4123944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AAEAE"/>
                </a:solidFill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65392" y="4096512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DAY 1 LATE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65392" y="430682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Friendly reminder — warm, not chasing.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80760" y="4736592"/>
            <a:ext cx="5788152" cy="621792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0760" y="4736592"/>
            <a:ext cx="36576" cy="62179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72200" y="4828031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AAEAE"/>
                </a:solidFill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65392" y="480060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DAY 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65392" y="501091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Direct call — professional and easy path to yes.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80760" y="5440680"/>
            <a:ext cx="5788152" cy="621792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080760" y="5440680"/>
            <a:ext cx="36576" cy="62179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53212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AAEAE"/>
                </a:solidFill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5392" y="550468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DAY 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65392" y="57150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Formal written notice. 48h final deadline.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138928"/>
            <a:ext cx="3657600" cy="1572768"/>
          </a:xfrm>
          <a:prstGeom prst="rect">
            <a:avLst/>
          </a:prstGeom>
          <a:solidFill>
            <a:srgbClr val="0A201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1480" y="5138928"/>
            <a:ext cx="3657600" cy="3657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521208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</a:rPr>
              <a:t>✅  Always Do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5541264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Invoice same day as close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5815583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Confirm payment terms in writing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6089903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Lock in brief call before you leave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6364223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Log every interaction in CRM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15968" y="5138928"/>
            <a:ext cx="3657600" cy="1572768"/>
          </a:xfrm>
          <a:prstGeom prst="rect">
            <a:avLst/>
          </a:prstGeom>
          <a:solidFill>
            <a:srgbClr val="200A0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315968" y="5138928"/>
            <a:ext cx="365760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453128" y="521208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</a:rPr>
              <a:t>⛔  Never Do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53128" y="5541264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Hand over site before payment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53128" y="5815583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Leave without a defined next step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53128" y="6089903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Accept "call me when you're ready"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53128" y="6364223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Agree verbal-only instalment terms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20456" y="5138928"/>
            <a:ext cx="3657600" cy="1572768"/>
          </a:xfrm>
          <a:prstGeom prst="rect">
            <a:avLst/>
          </a:prstGeom>
          <a:solidFill>
            <a:srgbClr val="201805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220456" y="5138928"/>
            <a:ext cx="36576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357616" y="521208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⚠️  If No Close Today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57616" y="5541264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Lock in specific date &amp; time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57616" y="5815583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Send draft site link that evening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57616" y="6089903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Send calendar invite from the car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57616" y="6364223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Vague next steps die — specific ones live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0" y="457200"/>
            <a:ext cx="27432" cy="91440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52560" y="731520"/>
            <a:ext cx="27432" cy="109728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18320" y="1005840"/>
            <a:ext cx="27432" cy="12801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784080" y="1280160"/>
            <a:ext cx="27432" cy="146304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149840" y="1554480"/>
            <a:ext cx="27432" cy="164592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0" y="1828800"/>
            <a:ext cx="27432" cy="182880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881360" y="2103120"/>
            <a:ext cx="27432" cy="201168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47120" y="2377440"/>
            <a:ext cx="27432" cy="21945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48640"/>
            <a:ext cx="685800" cy="6858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48640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85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8288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AAEAE"/>
                </a:solidFill>
              </a:rPr>
              <a:t>The Standard: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23160"/>
            <a:ext cx="8686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EF7F7"/>
                </a:solidFill>
              </a:rPr>
              <a:t>Signed. Invoiced. Brief call booked.
Site live in 24 hours.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404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ABFBF"/>
                </a:solidFill>
              </a:rPr>
              <a:t>That is what you're selling. That is exactly what you deliver.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434840"/>
            <a:ext cx="7315200" cy="91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6634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Stages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46634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500+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51937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Calls/wk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6634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5+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1937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Closes/wk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6634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24h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51937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To 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© 2026 Vela Sync Ltd · Co. No. 17051204 · Internal Sales Playbook —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